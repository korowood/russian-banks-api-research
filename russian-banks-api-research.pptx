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5" r:id="rId4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1617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2" pos="1867" userDrawn="1">
          <p15:clr>
            <a:srgbClr val="A4A3A4"/>
          </p15:clr>
        </p15:guide>
        <p15:guide id="3" pos="982" userDrawn="1">
          <p15:clr>
            <a:srgbClr val="A4A3A4"/>
          </p15:clr>
        </p15:guide>
        <p15:guide id="4" orient="horz" pos="2137" userDrawn="1">
          <p15:clr>
            <a:srgbClr val="A4A3A4"/>
          </p15:clr>
        </p15:guide>
        <p15:guide id="5" pos="1459" userDrawn="1">
          <p15:clr>
            <a:srgbClr val="A4A3A4"/>
          </p15:clr>
        </p15:guide>
        <p15:guide id="6" pos="3885" userDrawn="1">
          <p15:clr>
            <a:srgbClr val="A4A3A4"/>
          </p15:clr>
        </p15:guide>
        <p15:guide id="7" orient="horz" pos="2455" userDrawn="1">
          <p15:clr>
            <a:srgbClr val="A4A3A4"/>
          </p15:clr>
        </p15:guide>
        <p15:guide id="9" userDrawn="1">
          <p15:clr>
            <a:srgbClr val="A4A3A4"/>
          </p15:clr>
        </p15:guide>
        <p15:guide id="10" orient="horz" userDrawn="1">
          <p15:clr>
            <a:srgbClr val="A4A3A4"/>
          </p15:clr>
        </p15:guide>
        <p15:guide id="12" pos="7680" userDrawn="1">
          <p15:clr>
            <a:srgbClr val="A4A3A4"/>
          </p15:clr>
        </p15:guide>
        <p15:guide id="13" orient="horz" pos="4320" userDrawn="1">
          <p15:clr>
            <a:srgbClr val="A4A3A4"/>
          </p15:clr>
        </p15:guide>
        <p15:guide id="14" pos="4520" userDrawn="1">
          <p15:clr>
            <a:srgbClr val="A4A3A4"/>
          </p15:clr>
        </p15:guide>
        <p15:guide id="16" orient="horz" pos="3181" userDrawn="1">
          <p15:clr>
            <a:srgbClr val="A4A3A4"/>
          </p15:clr>
        </p15:guide>
        <p15:guide id="17" orient="horz" pos="3680" userDrawn="1">
          <p15:clr>
            <a:srgbClr val="A4A3A4"/>
          </p15:clr>
        </p15:guide>
        <p15:guide id="19" orient="horz" pos="1502" userDrawn="1">
          <p15:clr>
            <a:srgbClr val="A4A3A4"/>
          </p15:clr>
        </p15:guide>
        <p15:guide id="20" orient="horz" pos="32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2A2A2A"/>
    <a:srgbClr val="339189"/>
    <a:srgbClr val="323E49"/>
    <a:srgbClr val="000000"/>
    <a:srgbClr val="333F48"/>
    <a:srgbClr val="3F4851"/>
    <a:srgbClr val="E2E3E9"/>
    <a:srgbClr val="02766C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516170"/>
        </a:fontRef>
        <a:srgbClr val="51617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F2EF"/>
          </a:solidFill>
        </a:fill>
      </a:tcStyle>
    </a:wholeTbl>
    <a:band2H>
      <a:tcTxStyle/>
      <a:tcStyle>
        <a:tcBdr/>
        <a:fill>
          <a:solidFill>
            <a:srgbClr val="70461F"/>
          </a:solidFill>
        </a:fill>
      </a:tcStyle>
    </a:band2H>
    <a:firstCol>
      <a:tcTxStyle b="on" i="off">
        <a:fontRef idx="minor">
          <a:srgbClr val="516170"/>
        </a:fontRef>
        <a:srgbClr val="516170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E7F2EF"/>
          </a:solidFill>
        </a:fill>
      </a:tcStyle>
    </a:firstCol>
    <a:lastRow>
      <a:tcTxStyle b="on" i="off">
        <a:fontRef idx="minor">
          <a:srgbClr val="516170"/>
        </a:fontRef>
        <a:srgbClr val="51617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0461F"/>
          </a:solidFill>
        </a:fill>
      </a:tcStyle>
    </a:lastRow>
    <a:fir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16170"/>
        </a:fontRef>
        <a:srgbClr val="516170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CAD5D3"/>
          </a:solidFill>
        </a:fill>
      </a:tcStyle>
    </a:wholeTbl>
    <a:band2H>
      <a:tcTxStyle/>
      <a:tcStyle>
        <a:tcBdr/>
        <a:fill>
          <a:solidFill>
            <a:srgbClr val="E6EBEA"/>
          </a:solidFill>
        </a:fill>
      </a:tcStyle>
    </a:band2H>
    <a:firstCol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381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381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16170"/>
        </a:fontRef>
        <a:srgbClr val="516170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CAD7DA"/>
          </a:solidFill>
        </a:fill>
      </a:tcStyle>
    </a:wholeTbl>
    <a:band2H>
      <a:tcTxStyle/>
      <a:tcStyle>
        <a:tcBdr/>
        <a:fill>
          <a:solidFill>
            <a:srgbClr val="E6ECED"/>
          </a:solidFill>
        </a:fill>
      </a:tcStyle>
    </a:band2H>
    <a:firstCol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381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381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16170"/>
        </a:fontRef>
        <a:srgbClr val="516170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CCD4E2"/>
          </a:solidFill>
        </a:fill>
      </a:tcStyle>
    </a:wholeTbl>
    <a:band2H>
      <a:tcTxStyle/>
      <a:tcStyle>
        <a:tcBdr/>
        <a:fill>
          <a:solidFill>
            <a:srgbClr val="E7EBF1"/>
          </a:solidFill>
        </a:fill>
      </a:tcStyle>
    </a:band2H>
    <a:firstCol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381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381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16170"/>
        </a:fontRef>
        <a:srgbClr val="51617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AEB"/>
          </a:solidFill>
        </a:fill>
      </a:tcStyle>
    </a:wholeTbl>
    <a:band2H>
      <a:tcTxStyle/>
      <a:tcStyle>
        <a:tcBdr/>
        <a:fill>
          <a:solidFill>
            <a:srgbClr val="70461F"/>
          </a:solidFill>
        </a:fill>
      </a:tcStyle>
    </a:band2H>
    <a:firstCol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516170"/>
        </a:fontRef>
        <a:srgbClr val="51617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16170"/>
              </a:solidFill>
              <a:prstDash val="solid"/>
              <a:round/>
            </a:ln>
          </a:top>
          <a:bottom>
            <a:ln w="25400" cap="flat">
              <a:solidFill>
                <a:srgbClr val="51617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0461F"/>
          </a:solidFill>
        </a:fill>
      </a:tcStyle>
    </a:lastRow>
    <a:fir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16170"/>
              </a:solidFill>
              <a:prstDash val="solid"/>
              <a:round/>
            </a:ln>
          </a:top>
          <a:bottom>
            <a:ln w="25400" cap="flat">
              <a:solidFill>
                <a:srgbClr val="51617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16170"/>
        </a:fontRef>
        <a:srgbClr val="516170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CFD1D4"/>
          </a:solidFill>
        </a:fill>
      </a:tcStyle>
    </a:wholeTbl>
    <a:band2H>
      <a:tcTxStyle/>
      <a:tcStyle>
        <a:tcBdr/>
        <a:fill>
          <a:solidFill>
            <a:srgbClr val="E8EAEB"/>
          </a:solidFill>
        </a:fill>
      </a:tcStyle>
    </a:band2H>
    <a:firstCol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516170"/>
          </a:solidFill>
        </a:fill>
      </a:tcStyle>
    </a:firstCol>
    <a:la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38100" cap="flat">
              <a:solidFill>
                <a:srgbClr val="70461F"/>
              </a:solidFill>
              <a:prstDash val="solid"/>
              <a:round/>
            </a:ln>
          </a:top>
          <a:bottom>
            <a:ln w="127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516170"/>
          </a:solidFill>
        </a:fill>
      </a:tcStyle>
    </a:lastRow>
    <a:firstRow>
      <a:tcTxStyle b="on" i="off">
        <a:fontRef idx="minor">
          <a:srgbClr val="70461F"/>
        </a:fontRef>
        <a:srgbClr val="70461F"/>
      </a:tcTxStyle>
      <a:tcStyle>
        <a:tcBdr>
          <a:left>
            <a:ln w="12700" cap="flat">
              <a:solidFill>
                <a:srgbClr val="70461F"/>
              </a:solidFill>
              <a:prstDash val="solid"/>
              <a:round/>
            </a:ln>
          </a:left>
          <a:right>
            <a:ln w="12700" cap="flat">
              <a:solidFill>
                <a:srgbClr val="70461F"/>
              </a:solidFill>
              <a:prstDash val="solid"/>
              <a:round/>
            </a:ln>
          </a:right>
          <a:top>
            <a:ln w="12700" cap="flat">
              <a:solidFill>
                <a:srgbClr val="70461F"/>
              </a:solidFill>
              <a:prstDash val="solid"/>
              <a:round/>
            </a:ln>
          </a:top>
          <a:bottom>
            <a:ln w="38100" cap="flat">
              <a:solidFill>
                <a:srgbClr val="70461F"/>
              </a:solidFill>
              <a:prstDash val="solid"/>
              <a:round/>
            </a:ln>
          </a:bottom>
          <a:insideH>
            <a:ln w="12700" cap="flat">
              <a:solidFill>
                <a:srgbClr val="70461F"/>
              </a:solidFill>
              <a:prstDash val="solid"/>
              <a:round/>
            </a:ln>
          </a:insideH>
          <a:insideV>
            <a:ln w="12700" cap="flat">
              <a:solidFill>
                <a:srgbClr val="70461F"/>
              </a:solidFill>
              <a:prstDash val="solid"/>
              <a:round/>
            </a:ln>
          </a:insideV>
        </a:tcBdr>
        <a:fill>
          <a:solidFill>
            <a:srgbClr val="51617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77"/>
    <p:restoredTop sz="96715"/>
  </p:normalViewPr>
  <p:slideViewPr>
    <p:cSldViewPr snapToGrid="0" snapToObjects="1" showGuides="1">
      <p:cViewPr varScale="1">
        <p:scale>
          <a:sx n="128" d="100"/>
          <a:sy n="128" d="100"/>
        </p:scale>
        <p:origin x="912" y="176"/>
      </p:cViewPr>
      <p:guideLst>
        <p:guide pos="1867"/>
        <p:guide pos="982"/>
        <p:guide orient="horz" pos="2137"/>
        <p:guide pos="1459"/>
        <p:guide pos="3885"/>
        <p:guide orient="horz" pos="2455"/>
        <p:guide/>
        <p:guide orient="horz"/>
        <p:guide pos="7680"/>
        <p:guide orient="horz" pos="4320"/>
        <p:guide pos="4520"/>
        <p:guide orient="horz" pos="3181"/>
        <p:guide orient="horz" pos="3680"/>
        <p:guide orient="horz" pos="1502"/>
        <p:guide orient="horz" pos="3271"/>
      </p:guideLst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4672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2" Type="http://schemas.openxmlformats.org/officeDocument/2006/relationships/slide" Target="slides/slide8.xml"/><Relationship Id="rId43" Type="http://schemas.openxmlformats.org/officeDocument/2006/relationships/slide" Target="slides/slide9.xml"/><Relationship Id="rId4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0810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Обложка_5">
    <p:bg>
      <p:bgPr>
        <a:gradFill flip="none" rotWithShape="1">
          <a:gsLst>
            <a:gs pos="0">
              <a:srgbClr val="EEF3FF"/>
            </a:gs>
            <a:gs pos="95000">
              <a:srgbClr val="ECF1F5"/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9" descr="Рисунок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334" y="2058666"/>
            <a:ext cx="1744816" cy="696796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621666" y="3028517"/>
            <a:ext cx="3546150" cy="8670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3F485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21667" y="4015273"/>
            <a:ext cx="2429500" cy="106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SzTx/>
              <a:buFontTx/>
              <a:buNone/>
              <a:defRPr sz="1400">
                <a:solidFill>
                  <a:srgbClr val="3F4851"/>
                </a:solidFill>
              </a:defRPr>
            </a:lvl1pPr>
            <a:lvl2pPr marL="685800" indent="-228600">
              <a:buFontTx/>
              <a:defRPr sz="1400">
                <a:solidFill>
                  <a:srgbClr val="3F4851"/>
                </a:solidFill>
              </a:defRPr>
            </a:lvl2pPr>
            <a:lvl3pPr marL="1143000" indent="-228600">
              <a:buFontTx/>
              <a:defRPr sz="1400">
                <a:solidFill>
                  <a:srgbClr val="3F4851"/>
                </a:solidFill>
              </a:defRPr>
            </a:lvl3pPr>
            <a:lvl4pPr marL="1549400" indent="-177800">
              <a:buFontTx/>
              <a:defRPr sz="1400">
                <a:solidFill>
                  <a:srgbClr val="3F4851"/>
                </a:solidFill>
              </a:defRPr>
            </a:lvl4pPr>
            <a:lvl5pPr>
              <a:buFontTx/>
              <a:defRPr sz="1400">
                <a:solidFill>
                  <a:srgbClr val="3F4851"/>
                </a:solidFill>
              </a:defRPr>
            </a:lvl5pPr>
          </a:lstStyle>
          <a:p>
            <a:r>
              <a:t>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318501" y="6356350"/>
            <a:ext cx="419099" cy="231138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r">
              <a:defRPr sz="900">
                <a:solidFill>
                  <a:srgbClr val="3F485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7C63F90-9076-C143-9FF6-0AF976FA4DE7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14CFD5B-FCE4-574A-8964-1C7E091A3AD9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A286-6630-1743-B7A3-0D72063999A7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88A5EC-AE2B-2148-AC1D-D8132235E456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BCB28C4-BBA2-E349-94B7-711C2D902AE5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442C1-9342-3D4B-BFAA-EC433DF5B987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B353067C-AE2F-8844-9656-8DA1F7571F2C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3A1C7-D750-7846-A751-B095F65CBA4D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0D6157B-EE42-6942-8FA9-DB1634ED0BA5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0B78A9-2445-B048-B28F-3C0D2731B4C7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F65468C-DD77-1249-BB04-B8BE5B4EFE32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FA6B40-9A7E-C749-8348-5102A38F8F3E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8828D7F-78A9-1B40-8AD4-00B8AE443A5C}"/>
              </a:ext>
            </a:extLst>
          </p:cNvPr>
          <p:cNvSpPr/>
          <p:nvPr userDrawn="1"/>
        </p:nvSpPr>
        <p:spPr>
          <a:xfrm>
            <a:off x="12181377" y="-1428324"/>
            <a:ext cx="672353" cy="672353"/>
          </a:xfrm>
          <a:prstGeom prst="ellipse">
            <a:avLst/>
          </a:prstGeom>
          <a:solidFill>
            <a:srgbClr val="85399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BAFE76-BB18-FC49-9BAC-038C6813EF2A}"/>
              </a:ext>
            </a:extLst>
          </p:cNvPr>
          <p:cNvSpPr txBox="1"/>
          <p:nvPr userDrawn="1"/>
        </p:nvSpPr>
        <p:spPr>
          <a:xfrm>
            <a:off x="12978072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Vivid Violet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#853A90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лайд с контактами">
    <p:bg>
      <p:bgPr>
        <a:gradFill flip="none" rotWithShape="1">
          <a:gsLst>
            <a:gs pos="0">
              <a:srgbClr val="FFFFFF"/>
            </a:gs>
            <a:gs pos="100000">
              <a:srgbClr val="EEF3FF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Рисунок 18" descr="Рисунок 1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37" y="657225"/>
            <a:ext cx="1971270" cy="787229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Прямая соединительная линия 17"/>
          <p:cNvSpPr/>
          <p:nvPr/>
        </p:nvSpPr>
        <p:spPr>
          <a:xfrm flipH="1">
            <a:off x="1163638" y="4044298"/>
            <a:ext cx="1655762" cy="1"/>
          </a:xfrm>
          <a:prstGeom prst="line">
            <a:avLst/>
          </a:prstGeom>
          <a:ln w="381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3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3169784"/>
            <a:ext cx="8994972" cy="51843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4800">
                <a:solidFill>
                  <a:srgbClr val="3F485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63637" y="4315897"/>
            <a:ext cx="2429502" cy="10605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SzTx/>
              <a:buFontTx/>
              <a:buNone/>
              <a:defRPr sz="1400">
                <a:solidFill>
                  <a:srgbClr val="3F4851"/>
                </a:solidFill>
              </a:defRPr>
            </a:lvl1pPr>
            <a:lvl2pPr marL="685800" indent="-228600">
              <a:buFontTx/>
              <a:defRPr sz="1400">
                <a:solidFill>
                  <a:srgbClr val="3F4851"/>
                </a:solidFill>
              </a:defRPr>
            </a:lvl2pPr>
            <a:lvl3pPr marL="1143000" indent="-228600">
              <a:buFontTx/>
              <a:defRPr sz="1400">
                <a:solidFill>
                  <a:srgbClr val="3F4851"/>
                </a:solidFill>
              </a:defRPr>
            </a:lvl3pPr>
            <a:lvl4pPr marL="1549400" indent="-177800">
              <a:buFontTx/>
              <a:defRPr sz="1400">
                <a:solidFill>
                  <a:srgbClr val="3F4851"/>
                </a:solidFill>
              </a:defRPr>
            </a:lvl4pPr>
            <a:lvl5pPr>
              <a:buFontTx/>
              <a:defRPr sz="1400">
                <a:solidFill>
                  <a:srgbClr val="3F4851"/>
                </a:solidFill>
              </a:defRPr>
            </a:lvl5pPr>
          </a:lstStyle>
          <a:p>
            <a:r>
              <a:t>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318501" y="6356350"/>
            <a:ext cx="419099" cy="231138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r">
              <a:defRPr sz="900">
                <a:solidFill>
                  <a:srgbClr val="3F485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B4BA5B4-A1D1-B84C-B64E-98F59F4F3E83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7267F22-88A4-1548-AA20-450CEFA09E94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8293D-ABE7-2A47-9EE6-70BD05191317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C4A65-ED85-2443-9D67-13116A5F8B9B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5B825E38-7DEC-C344-A0B0-5D7DBDD8380F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1055BF-9283-294F-8AF4-BB354D99AB93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BB0CC4D-79A6-994B-B376-98D2D2A4DCE9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D73596-6CE1-0647-AAEB-4F611D99F08A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28014E3-6687-2D48-81E8-8A61D2E3F922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3D875-B431-6A49-BCA8-F3F307AB4631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E5D651E-9BE7-FF4B-A4F5-83DB8332C737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048EE0-2245-F845-B1D3-18F1DD9F86C3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D7536CE-298A-B04D-B528-35CE092B87EB}"/>
              </a:ext>
            </a:extLst>
          </p:cNvPr>
          <p:cNvSpPr/>
          <p:nvPr userDrawn="1"/>
        </p:nvSpPr>
        <p:spPr>
          <a:xfrm>
            <a:off x="12181377" y="-1428324"/>
            <a:ext cx="672353" cy="672353"/>
          </a:xfrm>
          <a:prstGeom prst="ellipse">
            <a:avLst/>
          </a:prstGeom>
          <a:solidFill>
            <a:srgbClr val="85399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66E8C-CC84-854D-AB12-B7F72037EBF6}"/>
              </a:ext>
            </a:extLst>
          </p:cNvPr>
          <p:cNvSpPr txBox="1"/>
          <p:nvPr userDrawn="1"/>
        </p:nvSpPr>
        <p:spPr>
          <a:xfrm>
            <a:off x="12978072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Vivid Violet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#853A90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лайд пустой_светл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657225"/>
            <a:ext cx="9000002" cy="518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3F485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19" name="Номер слайда">
            <a:extLst>
              <a:ext uri="{FF2B5EF4-FFF2-40B4-BE49-F238E27FC236}">
                <a16:creationId xmlns:a16="http://schemas.microsoft.com/office/drawing/2014/main" id="{0F57866A-218D-414E-BBD5-9F368D11790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Слайд пустой_светлый">
    <p:bg>
      <p:bgPr>
        <a:gradFill>
          <a:gsLst>
            <a:gs pos="65000">
              <a:srgbClr val="D6D4D4"/>
            </a:gs>
            <a:gs pos="100000">
              <a:srgbClr val="FFFFFF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657225"/>
            <a:ext cx="9000002" cy="518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1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529445" y="6385277"/>
            <a:ext cx="411972" cy="184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373E55E-305F-2C4B-B1A1-232E3A471614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4F1D7A5-AAD1-2B4F-99CA-F9596EF90C7A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3C0D9-366A-D745-80E0-E0301A67AC80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780DE-BE84-EA49-9539-815A93F4DFAA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58EAAA0-B04E-4A47-8748-24DEE449B8B7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968A2-26D2-8F49-8D4A-FA828122E175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1CFA7B3-1F78-B642-B372-0C83DBA02776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F3554-37D0-664E-8A53-A7FDCEBF6EE2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44D9180-6A23-9F45-8736-07A7FA52DDAD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50E21-9A3D-8543-B8AE-BB117DDB6331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402312B-04D0-2A46-B647-79085DF0F21E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C13ABC-D81F-B243-A90B-60089CF62B7B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pic>
        <p:nvPicPr>
          <p:cNvPr id="18" name="Object 3" descr="Object 3">
            <a:extLst>
              <a:ext uri="{FF2B5EF4-FFF2-40B4-BE49-F238E27FC236}">
                <a16:creationId xmlns:a16="http://schemas.microsoft.com/office/drawing/2014/main" id="{C5F656C3-AD6E-5F41-A8A2-2C4E9FE33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D3B812F5-3CD6-954A-897A-9E11E795D5C5}"/>
              </a:ext>
            </a:extLst>
          </p:cNvPr>
          <p:cNvSpPr/>
          <p:nvPr userDrawn="1"/>
        </p:nvSpPr>
        <p:spPr>
          <a:xfrm>
            <a:off x="12181377" y="-1428324"/>
            <a:ext cx="672353" cy="672353"/>
          </a:xfrm>
          <a:prstGeom prst="ellipse">
            <a:avLst/>
          </a:prstGeom>
          <a:solidFill>
            <a:srgbClr val="85399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F6345F-B4E4-AD49-99DD-C6D958D13FA6}"/>
              </a:ext>
            </a:extLst>
          </p:cNvPr>
          <p:cNvSpPr txBox="1"/>
          <p:nvPr userDrawn="1"/>
        </p:nvSpPr>
        <p:spPr>
          <a:xfrm>
            <a:off x="12978072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Vivid Violet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#853A90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300272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Слайд пустой_светл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Номер слайда">
            <a:extLst>
              <a:ext uri="{FF2B5EF4-FFF2-40B4-BE49-F238E27FC236}">
                <a16:creationId xmlns:a16="http://schemas.microsoft.com/office/drawing/2014/main" id="{9D20C3BB-980F-1749-896A-947816E25FD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лайд с графико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657225"/>
            <a:ext cx="9000002" cy="518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3F485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1" name="Номер слайда">
            <a:extLst>
              <a:ext uri="{FF2B5EF4-FFF2-40B4-BE49-F238E27FC236}">
                <a16:creationId xmlns:a16="http://schemas.microsoft.com/office/drawing/2014/main" id="{6D9072BA-D3B9-A54F-A62C-3DC12A10C06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лайд с белыми плашками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657225"/>
            <a:ext cx="9000002" cy="518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3F485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197" name="Object 2" descr="Object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37" y="1496288"/>
            <a:ext cx="2337562" cy="4453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Object 3" descr="Object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2692" y="1496288"/>
            <a:ext cx="2337563" cy="4453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Object 4" descr="Object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1747" y="1496288"/>
            <a:ext cx="2337563" cy="4453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Object 5" descr="Object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0802" y="1496288"/>
            <a:ext cx="2337563" cy="4453663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390562" y="3419604"/>
            <a:ext cx="1916310" cy="192773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92598" indent="-192598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Tx/>
              <a:buChar char="▪"/>
              <a:defRPr sz="12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  <a:lvl2pPr marL="571500" indent="-1143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Tx/>
              <a:defRPr sz="12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2pPr>
            <a:lvl3pPr marL="1051560" indent="-13716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Tx/>
              <a:defRPr sz="12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3pPr>
            <a:lvl4pPr marL="1524000" indent="-152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Tx/>
              <a:defRPr sz="12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4pPr>
            <a:lvl5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Tx/>
              <a:defRPr sz="12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2" name="Текст 7"/>
          <p:cNvSpPr>
            <a:spLocks noGrp="1"/>
          </p:cNvSpPr>
          <p:nvPr>
            <p:ph type="body" sz="quarter" idx="21"/>
          </p:nvPr>
        </p:nvSpPr>
        <p:spPr>
          <a:xfrm>
            <a:off x="3897855" y="3419604"/>
            <a:ext cx="1916312" cy="192773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03" name="Текст 7"/>
          <p:cNvSpPr>
            <a:spLocks noGrp="1"/>
          </p:cNvSpPr>
          <p:nvPr>
            <p:ph type="body" sz="quarter" idx="22"/>
          </p:nvPr>
        </p:nvSpPr>
        <p:spPr>
          <a:xfrm>
            <a:off x="6405148" y="3419604"/>
            <a:ext cx="1916312" cy="192773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04" name="Текст 7"/>
          <p:cNvSpPr>
            <a:spLocks noGrp="1"/>
          </p:cNvSpPr>
          <p:nvPr>
            <p:ph type="body" sz="quarter" idx="23"/>
          </p:nvPr>
        </p:nvSpPr>
        <p:spPr>
          <a:xfrm>
            <a:off x="8912441" y="3419604"/>
            <a:ext cx="1916312" cy="192773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05" name="Picture Placeholder 19"/>
          <p:cNvSpPr>
            <a:spLocks noGrp="1"/>
          </p:cNvSpPr>
          <p:nvPr>
            <p:ph type="pic" sz="quarter" idx="24"/>
          </p:nvPr>
        </p:nvSpPr>
        <p:spPr>
          <a:xfrm>
            <a:off x="1603502" y="1916759"/>
            <a:ext cx="657446" cy="65744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06" name="Picture Placeholder 19"/>
          <p:cNvSpPr>
            <a:spLocks noGrp="1"/>
          </p:cNvSpPr>
          <p:nvPr>
            <p:ph type="pic" sz="quarter" idx="25"/>
          </p:nvPr>
        </p:nvSpPr>
        <p:spPr>
          <a:xfrm>
            <a:off x="4110797" y="1916759"/>
            <a:ext cx="657446" cy="65744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07" name="Picture Placeholder 19"/>
          <p:cNvSpPr>
            <a:spLocks noGrp="1"/>
          </p:cNvSpPr>
          <p:nvPr>
            <p:ph type="pic" sz="quarter" idx="26"/>
          </p:nvPr>
        </p:nvSpPr>
        <p:spPr>
          <a:xfrm>
            <a:off x="6618089" y="1916759"/>
            <a:ext cx="657446" cy="65744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08" name="Picture Placeholder 19"/>
          <p:cNvSpPr>
            <a:spLocks noGrp="1"/>
          </p:cNvSpPr>
          <p:nvPr>
            <p:ph type="pic" sz="quarter" idx="27"/>
          </p:nvPr>
        </p:nvSpPr>
        <p:spPr>
          <a:xfrm>
            <a:off x="9125383" y="1916759"/>
            <a:ext cx="657446" cy="65744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09" name="Текст 7"/>
          <p:cNvSpPr>
            <a:spLocks noGrp="1"/>
          </p:cNvSpPr>
          <p:nvPr>
            <p:ph type="body" sz="quarter" idx="28"/>
          </p:nvPr>
        </p:nvSpPr>
        <p:spPr>
          <a:xfrm>
            <a:off x="1390562" y="2794442"/>
            <a:ext cx="1776436" cy="53748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10" name="Текст 7"/>
          <p:cNvSpPr>
            <a:spLocks noGrp="1"/>
          </p:cNvSpPr>
          <p:nvPr>
            <p:ph type="body" sz="quarter" idx="29"/>
          </p:nvPr>
        </p:nvSpPr>
        <p:spPr>
          <a:xfrm>
            <a:off x="3897855" y="2794442"/>
            <a:ext cx="1776437" cy="53748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11" name="Текст 7"/>
          <p:cNvSpPr>
            <a:spLocks noGrp="1"/>
          </p:cNvSpPr>
          <p:nvPr>
            <p:ph type="body" sz="quarter" idx="30"/>
          </p:nvPr>
        </p:nvSpPr>
        <p:spPr>
          <a:xfrm>
            <a:off x="6405148" y="2794442"/>
            <a:ext cx="1776437" cy="53748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12" name="Текст 7"/>
          <p:cNvSpPr>
            <a:spLocks noGrp="1"/>
          </p:cNvSpPr>
          <p:nvPr>
            <p:ph type="body" sz="quarter" idx="31"/>
          </p:nvPr>
        </p:nvSpPr>
        <p:spPr>
          <a:xfrm>
            <a:off x="8912441" y="2794442"/>
            <a:ext cx="1776437" cy="53748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304F5BE5-1C1D-3B4F-924C-E22D693677D4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C88AB9F9-39A2-9A4D-B56F-E3991F8D65A9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C5B27E-447F-AE4C-B4A7-C923D2201088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4EDCB3-3C4D-A34E-A54E-C321F303092C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3B2B3C84-8638-1E4F-8779-AFE7AFEC629D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2F94C7-61A3-B146-A5FF-0C834F43DDDA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0AEF913-B6A7-AD41-83FA-B9029DC10994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9A4735-ED2A-1940-A68F-DD819DA8D64F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501063FB-9268-2749-9C48-D46B7ED2A422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D25E32-5DB9-5E4F-8BE5-56F5949670CD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610BC0CF-21BF-B84D-8104-56778BFB0A7B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DD6D2E-3006-CA4E-92A9-6286561C803F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90E2DC0F-04D5-164B-BA0C-FFB47187B85D}"/>
              </a:ext>
            </a:extLst>
          </p:cNvPr>
          <p:cNvSpPr/>
          <p:nvPr userDrawn="1"/>
        </p:nvSpPr>
        <p:spPr>
          <a:xfrm>
            <a:off x="12181377" y="-1428324"/>
            <a:ext cx="672353" cy="672353"/>
          </a:xfrm>
          <a:prstGeom prst="ellipse">
            <a:avLst/>
          </a:prstGeom>
          <a:solidFill>
            <a:srgbClr val="85399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632C71-988D-094F-84E4-7CA393DBA7B0}"/>
              </a:ext>
            </a:extLst>
          </p:cNvPr>
          <p:cNvSpPr txBox="1"/>
          <p:nvPr userDrawn="1"/>
        </p:nvSpPr>
        <p:spPr>
          <a:xfrm>
            <a:off x="12978072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Vivid Violet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#853A90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35" name="Номер слайда">
            <a:extLst>
              <a:ext uri="{FF2B5EF4-FFF2-40B4-BE49-F238E27FC236}">
                <a16:creationId xmlns:a16="http://schemas.microsoft.com/office/drawing/2014/main" id="{1BDE2F76-46DB-C447-9FC0-9803AC8B188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лайд с графиком и текстом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Прямоугольник 1"/>
          <p:cNvSpPr/>
          <p:nvPr/>
        </p:nvSpPr>
        <p:spPr>
          <a:xfrm>
            <a:off x="-3" y="0"/>
            <a:ext cx="5724399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FB3C0"/>
                </a:solidFill>
                <a:latin typeface="SB Sans Text"/>
                <a:ea typeface="SB Sans Text"/>
                <a:cs typeface="SB Sans Text"/>
                <a:sym typeface="SB Sans Text"/>
              </a:defRPr>
            </a:pPr>
            <a:endParaRPr/>
          </a:p>
        </p:txBody>
      </p:sp>
      <p:pic>
        <p:nvPicPr>
          <p:cNvPr id="221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657225"/>
            <a:ext cx="4009614" cy="92105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3F485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2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63637" y="1653437"/>
            <a:ext cx="3946984" cy="25302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FontTx/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FontTx/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3pPr>
            <a:lvl4pPr marL="1549400" indent="-177800">
              <a:lnSpc>
                <a:spcPct val="100000"/>
              </a:lnSpc>
              <a:spcBef>
                <a:spcPts val="0"/>
              </a:spcBef>
              <a:buFontTx/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4pPr>
            <a:lvl5pPr>
              <a:lnSpc>
                <a:spcPct val="100000"/>
              </a:lnSpc>
              <a:spcBef>
                <a:spcPts val="0"/>
              </a:spcBef>
              <a:buFontTx/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5pPr>
          </a:lstStyle>
          <a:p>
            <a:r>
              <a:t>Текст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C9800BA-B156-004C-A0FE-0718CD8766B4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60BCFC1-F573-424F-88D4-A7CB49A16E21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F81E7A-719F-204D-9F73-6BA286602D3D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8A91D-2D29-DB49-AA85-140698862892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F2E4185-8960-1B4F-AC32-BA0A6E119EF5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EF821-794C-6040-BC62-201296AA33A0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12860CA-AB1F-B941-AC64-1C32A2108871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7EE979-8CA3-6540-8492-46D17DD7A2D1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FBA0660-4211-DD4B-8B66-C3F4AB3E429F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10D3CF-DE8F-0647-A4A6-AAAF9516229A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59E0590-75F4-034A-9969-176B14B4F896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7D9A6B-5FD8-9C4E-996D-327F10EC3F94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46FBD1F7-359A-F244-A862-1CBFC99E5879}"/>
              </a:ext>
            </a:extLst>
          </p:cNvPr>
          <p:cNvSpPr/>
          <p:nvPr userDrawn="1"/>
        </p:nvSpPr>
        <p:spPr>
          <a:xfrm>
            <a:off x="12181377" y="-1428324"/>
            <a:ext cx="672353" cy="672353"/>
          </a:xfrm>
          <a:prstGeom prst="ellipse">
            <a:avLst/>
          </a:prstGeom>
          <a:solidFill>
            <a:srgbClr val="85399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8044AE-3EBB-F84D-A31E-186F31D223C0}"/>
              </a:ext>
            </a:extLst>
          </p:cNvPr>
          <p:cNvSpPr txBox="1"/>
          <p:nvPr userDrawn="1"/>
        </p:nvSpPr>
        <p:spPr>
          <a:xfrm>
            <a:off x="12978072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Vivid Violet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#853A90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21" name="Номер слайда">
            <a:extLst>
              <a:ext uri="{FF2B5EF4-FFF2-40B4-BE49-F238E27FC236}">
                <a16:creationId xmlns:a16="http://schemas.microsoft.com/office/drawing/2014/main" id="{03D138E3-5175-254D-B6AE-AB2718FE5CEA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Слайд с графико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63637" y="657225"/>
            <a:ext cx="9000002" cy="51843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rgbClr val="3F485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270" name="Object 2" descr="Object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37" y="1496289"/>
            <a:ext cx="2337562" cy="4453661"/>
          </a:xfrm>
          <a:prstGeom prst="rect">
            <a:avLst/>
          </a:prstGeom>
          <a:ln w="12700">
            <a:miter lim="400000"/>
          </a:ln>
          <a:effectLst>
            <a:outerShdw blurRad="330200" dist="133609" dir="2520000" sx="98975" sy="98975" algn="ctr" rotWithShape="0">
              <a:srgbClr val="000000">
                <a:alpha val="16690"/>
              </a:srgbClr>
            </a:outerShdw>
          </a:effectLst>
        </p:spPr>
      </p:pic>
      <p:pic>
        <p:nvPicPr>
          <p:cNvPr id="271" name="Object 3" descr="Object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2692" y="1496289"/>
            <a:ext cx="2337562" cy="4453661"/>
          </a:xfrm>
          <a:prstGeom prst="rect">
            <a:avLst/>
          </a:prstGeom>
          <a:ln w="12700">
            <a:miter lim="400000"/>
          </a:ln>
          <a:effectLst>
            <a:outerShdw blurRad="330200" dist="133609" dir="2520000" sx="98975" sy="98975" algn="ctr" rotWithShape="0">
              <a:srgbClr val="000000">
                <a:alpha val="16690"/>
              </a:srgbClr>
            </a:outerShdw>
          </a:effectLst>
        </p:spPr>
      </p:pic>
      <p:pic>
        <p:nvPicPr>
          <p:cNvPr id="272" name="Object 4" descr="Object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1747" y="1496289"/>
            <a:ext cx="2337562" cy="4453661"/>
          </a:xfrm>
          <a:prstGeom prst="rect">
            <a:avLst/>
          </a:prstGeom>
          <a:ln w="12700">
            <a:miter lim="400000"/>
          </a:ln>
          <a:effectLst>
            <a:outerShdw blurRad="330200" dist="133609" dir="2520000" sx="98975" sy="98975" algn="ctr" rotWithShape="0">
              <a:srgbClr val="000000">
                <a:alpha val="16690"/>
              </a:srgbClr>
            </a:outerShdw>
          </a:effectLst>
        </p:spPr>
      </p:pic>
      <p:pic>
        <p:nvPicPr>
          <p:cNvPr id="273" name="Object 5" descr="Object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0802" y="1496289"/>
            <a:ext cx="2337562" cy="4453661"/>
          </a:xfrm>
          <a:prstGeom prst="rect">
            <a:avLst/>
          </a:prstGeom>
          <a:ln w="12700">
            <a:miter lim="400000"/>
          </a:ln>
          <a:effectLst>
            <a:outerShdw blurRad="330200" dist="133609" dir="2520000" sx="98975" sy="98975" algn="ctr" rotWithShape="0">
              <a:srgbClr val="000000">
                <a:alpha val="16690"/>
              </a:srgbClr>
            </a:outerShdw>
          </a:effectLst>
        </p:spPr>
      </p:pic>
      <p:sp>
        <p:nvSpPr>
          <p:cNvPr id="23" name="Номер слайда">
            <a:extLst>
              <a:ext uri="{FF2B5EF4-FFF2-40B4-BE49-F238E27FC236}">
                <a16:creationId xmlns:a16="http://schemas.microsoft.com/office/drawing/2014/main" id="{51F378B7-B95A-CC4D-9E68-BF87452B6E60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лайд с графиком_f5f5f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Рисунок 6" descr="Рисунок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366" y="1433630"/>
            <a:ext cx="7422865" cy="4401685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029697" y="2286825"/>
            <a:ext cx="1998666" cy="32066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1200"/>
              </a:spcBef>
              <a:buSzTx/>
              <a:buFontTx/>
              <a:buNone/>
              <a:defRPr sz="1400">
                <a:solidFill>
                  <a:srgbClr val="323E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  <a:lvl2pPr marL="590550" indent="-133350">
              <a:spcBef>
                <a:spcPts val="1200"/>
              </a:spcBef>
              <a:buFontTx/>
              <a:defRPr sz="1400">
                <a:solidFill>
                  <a:srgbClr val="323E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2pPr>
            <a:lvl3pPr marL="1074419" indent="-160019">
              <a:spcBef>
                <a:spcPts val="1200"/>
              </a:spcBef>
              <a:buFontTx/>
              <a:defRPr sz="1400">
                <a:solidFill>
                  <a:srgbClr val="323E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3pPr>
            <a:lvl4pPr marL="1549400" indent="-177800">
              <a:spcBef>
                <a:spcPts val="1200"/>
              </a:spcBef>
              <a:buFontTx/>
              <a:defRPr sz="1400">
                <a:solidFill>
                  <a:srgbClr val="323E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4pPr>
            <a:lvl5pPr>
              <a:spcBef>
                <a:spcPts val="1200"/>
              </a:spcBef>
              <a:buFontTx/>
              <a:defRPr sz="1400">
                <a:solidFill>
                  <a:srgbClr val="323E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5pPr>
          </a:lstStyle>
          <a:p>
            <a:r>
              <a:t>Edit Master text styles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5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9029700" y="1619817"/>
            <a:ext cx="1998665" cy="4446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SzTx/>
              <a:buFontTx/>
              <a:buNone/>
              <a:defRPr sz="2000">
                <a:solidFill>
                  <a:srgbClr val="323E48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t>Edit Master text</a:t>
            </a:r>
          </a:p>
        </p:txBody>
      </p:sp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E047F20-50F9-3E4E-B385-C00FCBCA83E2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51E8D7B-D74A-0C4C-B9EE-23F0A69893CD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649443-4648-CA4E-A3E5-A2AB9766C457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D91D95-39F8-6F40-AAC6-9031CE9B8351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E1400E7-38A5-F04D-9270-FD3E4D610156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24151-2CB6-D34F-A8D0-7F76D565E4C5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241C6C7-94E1-664C-ABCF-4DC3CDE3527C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BB850B-4DF5-EA40-BEBB-374F162BF245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8FD1CA5-C92A-364C-9017-8EF01C42B742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4DDC3-BCED-E242-A751-24C3D77F220A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DDE37EE-8BEB-BA4F-9342-8E3A9B476967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56E66-7747-1C4C-A6E2-66E11DC46BE6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5098B96-A4A9-D740-9109-F5E752E3475F}"/>
              </a:ext>
            </a:extLst>
          </p:cNvPr>
          <p:cNvSpPr/>
          <p:nvPr userDrawn="1"/>
        </p:nvSpPr>
        <p:spPr>
          <a:xfrm>
            <a:off x="12181377" y="-1428324"/>
            <a:ext cx="672353" cy="672353"/>
          </a:xfrm>
          <a:prstGeom prst="ellipse">
            <a:avLst/>
          </a:prstGeom>
          <a:solidFill>
            <a:srgbClr val="85399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7536C-8BC5-A34E-8147-26C097CA609E}"/>
              </a:ext>
            </a:extLst>
          </p:cNvPr>
          <p:cNvSpPr txBox="1"/>
          <p:nvPr userDrawn="1"/>
        </p:nvSpPr>
        <p:spPr>
          <a:xfrm>
            <a:off x="12978072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Vivid Violet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#853A90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BFFFD"/>
            </a:gs>
            <a:gs pos="74000">
              <a:srgbClr val="4FFFF0"/>
            </a:gs>
            <a:gs pos="83000">
              <a:srgbClr val="4FFFF0"/>
            </a:gs>
            <a:gs pos="100000">
              <a:srgbClr val="89FF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bject 2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37" y="1496289"/>
            <a:ext cx="2337562" cy="4453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Object 3" descr="Object 3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2692" y="1496289"/>
            <a:ext cx="2337562" cy="4453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Object 4" descr="Object 4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1747" y="1496289"/>
            <a:ext cx="2337562" cy="4453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5" descr="Object 5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0802" y="1496289"/>
            <a:ext cx="2337562" cy="4453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Object 3" descr="Object 3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r>
              <a:t>Текст заголовка</a:t>
            </a:r>
          </a:p>
        </p:txBody>
      </p:sp>
      <p:sp>
        <p:nvSpPr>
          <p:cNvPr id="8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548740" y="6382360"/>
            <a:ext cx="373381" cy="1905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indent="177800" algn="ctr" defTabSz="359999">
              <a:tabLst>
                <a:tab pos="177800" algn="l"/>
              </a:tabLst>
              <a:defRPr sz="1200">
                <a:solidFill>
                  <a:srgbClr val="333F48"/>
                </a:solidFill>
                <a:latin typeface="SB Sans Text"/>
                <a:ea typeface="SB Sans Text"/>
                <a:cs typeface="SB Sans Text"/>
                <a:sym typeface="SB Sans Tex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F75CC64-8DFB-5F4D-9CB7-124B9A05C311}"/>
              </a:ext>
            </a:extLst>
          </p:cNvPr>
          <p:cNvSpPr/>
          <p:nvPr userDrawn="1"/>
        </p:nvSpPr>
        <p:spPr>
          <a:xfrm>
            <a:off x="2069486" y="-1438835"/>
            <a:ext cx="672353" cy="672353"/>
          </a:xfrm>
          <a:prstGeom prst="ellipse">
            <a:avLst/>
          </a:prstGeom>
          <a:solidFill>
            <a:srgbClr val="33918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258A071-5640-DE48-8C21-3F26A238CCEA}"/>
              </a:ext>
            </a:extLst>
          </p:cNvPr>
          <p:cNvSpPr/>
          <p:nvPr userDrawn="1"/>
        </p:nvSpPr>
        <p:spPr>
          <a:xfrm>
            <a:off x="3907363" y="-1438835"/>
            <a:ext cx="672353" cy="672353"/>
          </a:xfrm>
          <a:prstGeom prst="ellipse">
            <a:avLst/>
          </a:prstGeom>
          <a:solidFill>
            <a:srgbClr val="333F4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3FB761-3B28-AC42-9C59-6A45E006D18B}"/>
              </a:ext>
            </a:extLst>
          </p:cNvPr>
          <p:cNvSpPr txBox="1"/>
          <p:nvPr userDrawn="1"/>
        </p:nvSpPr>
        <p:spPr>
          <a:xfrm>
            <a:off x="2874437" y="-1402298"/>
            <a:ext cx="125772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Blue Chill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339189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C36F0-A888-CF4B-86DA-179875B3377F}"/>
              </a:ext>
            </a:extLst>
          </p:cNvPr>
          <p:cNvSpPr txBox="1"/>
          <p:nvPr userDrawn="1"/>
        </p:nvSpPr>
        <p:spPr>
          <a:xfrm>
            <a:off x="4669929" y="-1402298"/>
            <a:ext cx="1593391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3F48</a:t>
            </a: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72384853-D502-2D47-8165-D34EFCDA928C}"/>
              </a:ext>
            </a:extLst>
          </p:cNvPr>
          <p:cNvSpPr/>
          <p:nvPr userDrawn="1"/>
        </p:nvSpPr>
        <p:spPr>
          <a:xfrm>
            <a:off x="-13957" y="-1438835"/>
            <a:ext cx="672353" cy="672353"/>
          </a:xfrm>
          <a:prstGeom prst="ellipse">
            <a:avLst/>
          </a:prstGeom>
          <a:solidFill>
            <a:srgbClr val="04766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E4B3F-2FBC-1846-BE25-E8315A93CC55}"/>
              </a:ext>
            </a:extLst>
          </p:cNvPr>
          <p:cNvSpPr txBox="1"/>
          <p:nvPr userDrawn="1"/>
        </p:nvSpPr>
        <p:spPr>
          <a:xfrm>
            <a:off x="790994" y="-1402298"/>
            <a:ext cx="176701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Malachite Pro</a:t>
            </a: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00766C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BEDD485-319E-294F-BEA3-EFA98949E7B2}"/>
              </a:ext>
            </a:extLst>
          </p:cNvPr>
          <p:cNvSpPr/>
          <p:nvPr userDrawn="1"/>
        </p:nvSpPr>
        <p:spPr>
          <a:xfrm>
            <a:off x="5642598" y="-1428324"/>
            <a:ext cx="672353" cy="672353"/>
          </a:xfrm>
          <a:prstGeom prst="ellipse">
            <a:avLst/>
          </a:prstGeom>
          <a:solidFill>
            <a:srgbClr val="EEF3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9E483-73A0-FC47-85B2-33F34933C33C}"/>
              </a:ext>
            </a:extLst>
          </p:cNvPr>
          <p:cNvSpPr txBox="1"/>
          <p:nvPr userDrawn="1"/>
        </p:nvSpPr>
        <p:spPr>
          <a:xfrm>
            <a:off x="643929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Снежный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EEF3FF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D43AC27-D524-9643-B00E-B50798967D16}"/>
              </a:ext>
            </a:extLst>
          </p:cNvPr>
          <p:cNvSpPr/>
          <p:nvPr userDrawn="1"/>
        </p:nvSpPr>
        <p:spPr>
          <a:xfrm>
            <a:off x="7876512" y="-1428324"/>
            <a:ext cx="672353" cy="672353"/>
          </a:xfrm>
          <a:prstGeom prst="ellipse">
            <a:avLst/>
          </a:prstGeom>
          <a:solidFill>
            <a:srgbClr val="D6D4D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43376-E40D-D744-9910-869FF6248799}"/>
              </a:ext>
            </a:extLst>
          </p:cNvPr>
          <p:cNvSpPr txBox="1"/>
          <p:nvPr userDrawn="1"/>
        </p:nvSpPr>
        <p:spPr>
          <a:xfrm>
            <a:off x="8673207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Серый </a:t>
            </a:r>
            <a:r>
              <a:rPr kumimoji="0" lang="ru-RU" sz="1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Сбер</a:t>
            </a:r>
            <a:endParaRPr kumimoji="0" lang="en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#</a:t>
            </a:r>
            <a:r>
              <a:rPr kumimoji="0" lang="en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D6D4D4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59FCE79-0CB4-EB41-A0F6-C8D09CA20C24}"/>
              </a:ext>
            </a:extLst>
          </p:cNvPr>
          <p:cNvSpPr/>
          <p:nvPr userDrawn="1"/>
        </p:nvSpPr>
        <p:spPr>
          <a:xfrm>
            <a:off x="9983608" y="-1428324"/>
            <a:ext cx="672353" cy="672353"/>
          </a:xfrm>
          <a:prstGeom prst="ellipse">
            <a:avLst/>
          </a:prstGeom>
          <a:solidFill>
            <a:srgbClr val="51627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51617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058DA-F40C-0042-AA21-424DEBB3D805}"/>
              </a:ext>
            </a:extLst>
          </p:cNvPr>
          <p:cNvSpPr txBox="1"/>
          <p:nvPr userDrawn="1"/>
        </p:nvSpPr>
        <p:spPr>
          <a:xfrm>
            <a:off x="10780303" y="-1402298"/>
            <a:ext cx="1593391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Graphite CIB #</a:t>
            </a:r>
            <a:r>
              <a:rPr kumimoji="0" lang="ru-RU" sz="1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SB Sans Display Light" panose="020B0303040504020204" pitchFamily="34" charset="0"/>
                <a:ea typeface="+mn-ea"/>
                <a:cs typeface="SB Sans Display Light" panose="020B0303040504020204" pitchFamily="34" charset="0"/>
                <a:sym typeface="Helvetica"/>
              </a:rPr>
              <a:t>516270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SB Sans Display Light" panose="020B0303040504020204" pitchFamily="34" charset="0"/>
              <a:ea typeface="+mn-ea"/>
              <a:cs typeface="SB Sans Display Light" panose="020B0303040504020204" pitchFamily="34" charset="0"/>
              <a:sym typeface="Helvetic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1" r:id="rId3"/>
    <p:sldLayoutId id="2147483675" r:id="rId4"/>
    <p:sldLayoutId id="2147483662" r:id="rId5"/>
    <p:sldLayoutId id="2147483663" r:id="rId6"/>
    <p:sldLayoutId id="2147483664" r:id="rId7"/>
    <p:sldLayoutId id="2147483665" r:id="rId8"/>
    <p:sldLayoutId id="2147483669" r:id="rId9"/>
    <p:sldLayoutId id="2147483674" r:id="rId10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516170"/>
          </a:solidFill>
          <a:uFillTx/>
          <a:latin typeface="SB Sans Display"/>
          <a:ea typeface="SB Sans Display"/>
          <a:cs typeface="SB Sans Display"/>
          <a:sym typeface="SB San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4pPr>
      <a:lvl5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16170"/>
          </a:solidFill>
          <a:uFillTx/>
          <a:latin typeface="SB Sans Text"/>
          <a:ea typeface="SB Sans Text"/>
          <a:cs typeface="SB Sans Text"/>
          <a:sym typeface="SB Sans Text"/>
        </a:defRPr>
      </a:lvl9pPr>
    </p:bodyStyle>
    <p:otherStyle>
      <a:lvl1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1pPr>
      <a:lvl2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2pPr>
      <a:lvl3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3pPr>
      <a:lvl4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4pPr>
      <a:lvl5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5pPr>
      <a:lvl6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6pPr>
      <a:lvl7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7pPr>
      <a:lvl8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8pPr>
      <a:lvl9pPr marL="0" marR="0" indent="177800" algn="ctr" defTabSz="3599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177800" algn="l"/>
        </a:tabLst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B Sans Tex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FD0DC7-A0AA-8E46-A52B-B44F27D857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18219" y="0"/>
            <a:ext cx="8973782" cy="6879759"/>
          </a:xfrm>
          <a:prstGeom prst="rect">
            <a:avLst/>
          </a:prstGeom>
        </p:spPr>
      </p:pic>
      <p:sp>
        <p:nvSpPr>
          <p:cNvPr id="8" name="Прямоугольник">
            <a:extLst>
              <a:ext uri="{FF2B5EF4-FFF2-40B4-BE49-F238E27FC236}">
                <a16:creationId xmlns:a16="http://schemas.microsoft.com/office/drawing/2014/main" id="{38AF4049-ECF2-3C44-9AF4-FCFEAD35A479}"/>
              </a:ext>
            </a:extLst>
          </p:cNvPr>
          <p:cNvSpPr/>
          <p:nvPr/>
        </p:nvSpPr>
        <p:spPr>
          <a:xfrm>
            <a:off x="-1086567" y="-3420818"/>
            <a:ext cx="9469284" cy="15808703"/>
          </a:xfrm>
          <a:prstGeom prst="rect">
            <a:avLst/>
          </a:prstGeom>
          <a:gradFill>
            <a:gsLst>
              <a:gs pos="50843">
                <a:srgbClr val="FFFFFF"/>
              </a:gs>
              <a:gs pos="78055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path>
              <a:fillToRect l="-4239" t="49577" r="104239" b="50422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76" name="Text Placeholder 3"/>
          <p:cNvSpPr txBox="1"/>
          <p:nvPr/>
        </p:nvSpPr>
        <p:spPr>
          <a:xfrm>
            <a:off x="1708231" y="4782396"/>
            <a:ext cx="210650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359999">
              <a:defRPr sz="14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2/06/2021</a:t>
            </a:r>
          </a:p>
        </p:txBody>
      </p:sp>
      <p:pic>
        <p:nvPicPr>
          <p:cNvPr id="378" name="Object 3" descr="Object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37" y="668326"/>
            <a:ext cx="1495481" cy="307484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Text Placeholder 3"/>
          <p:cNvSpPr txBox="1"/>
          <p:nvPr/>
        </p:nvSpPr>
        <p:spPr>
          <a:xfrm>
            <a:off x="1163637" y="5798021"/>
            <a:ext cx="496887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 defTabSz="359999"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Февраль 2021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781A54-7BEA-464D-BE1E-B3D62E989D7D}"/>
              </a:ext>
            </a:extLst>
          </p:cNvPr>
          <p:cNvSpPr txBox="1"/>
          <p:nvPr/>
        </p:nvSpPr>
        <p:spPr>
          <a:xfrm>
            <a:off x="1163637" y="2751319"/>
            <a:ext cx="5177421" cy="13388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000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Заголовок.</a:t>
            </a:r>
          </a:p>
          <a:p>
            <a:pPr marL="0" marR="0" indent="0" algn="l" defTabSz="9144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0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С выделением первого</a:t>
            </a:r>
          </a:p>
          <a:p>
            <a:pPr marL="0" marR="0" indent="0" algn="l" defTabSz="9144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0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слова на верхней строчке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BFBA56-A4BD-C442-82E8-661DF63B46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989" y="0"/>
            <a:ext cx="11542011" cy="6858000"/>
          </a:xfrm>
          <a:prstGeom prst="rect">
            <a:avLst/>
          </a:prstGeom>
        </p:spPr>
      </p:pic>
      <p:sp>
        <p:nvSpPr>
          <p:cNvPr id="7" name="Прямоугольник">
            <a:extLst>
              <a:ext uri="{FF2B5EF4-FFF2-40B4-BE49-F238E27FC236}">
                <a16:creationId xmlns:a16="http://schemas.microsoft.com/office/drawing/2014/main" id="{FC3CDD8B-663C-4A46-9BAD-82CBEF94D6BA}"/>
              </a:ext>
            </a:extLst>
          </p:cNvPr>
          <p:cNvSpPr/>
          <p:nvPr/>
        </p:nvSpPr>
        <p:spPr>
          <a:xfrm>
            <a:off x="-1016029" y="-5088316"/>
            <a:ext cx="9469284" cy="16386932"/>
          </a:xfrm>
          <a:prstGeom prst="rect">
            <a:avLst/>
          </a:prstGeom>
          <a:gradFill>
            <a:gsLst>
              <a:gs pos="50843">
                <a:srgbClr val="FFFFFF"/>
              </a:gs>
              <a:gs pos="78055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path>
              <a:fillToRect l="-4239" t="49577" r="104239" b="50422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411" name="Заголовок 1"/>
          <p:cNvSpPr txBox="1"/>
          <p:nvPr/>
        </p:nvSpPr>
        <p:spPr>
          <a:xfrm>
            <a:off x="1163636" y="4717861"/>
            <a:ext cx="5504450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defRPr sz="40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>
                <a:solidFill>
                  <a:srgbClr val="323F48"/>
                </a:solidFill>
              </a:rPr>
              <a:t>01. Обзор</a:t>
            </a:r>
            <a:r>
              <a:rPr dirty="0" err="1">
                <a:solidFill>
                  <a:srgbClr val="323F48"/>
                </a:solidFill>
              </a:rPr>
              <a:t/>
            </a:r>
            <a:endParaRPr dirty="0">
              <a:solidFill>
                <a:srgbClr val="323F48"/>
              </a:solidFill>
            </a:endParaRPr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9ADFBF93-A588-A44E-B0B2-C91B51F3F45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4F83C-A2A2-1A4E-AD14-3C86D386941B}"/>
              </a:ext>
            </a:extLst>
          </p:cNvPr>
          <p:cNvSpPr txBox="1"/>
          <p:nvPr/>
        </p:nvSpPr>
        <p:spPr>
          <a:xfrm>
            <a:off x="1114340" y="5381682"/>
            <a:ext cx="4717692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Топ-10 банков по активам, метрики лидеров,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200" u="none" strike="noStrike" cap="none" spc="0" normalizeH="0" baseline="0" dirty="0">
                <a:ln>
                  <a:noFill/>
                </a:ln>
                <a:solidFill>
                  <a:srgbClr val="333F48"/>
                </a:solidFill>
                <a:effectLst/>
                <a:uFillTx/>
                <a:latin typeface="SB Sans Text Light" panose="020B0303040504020204" pitchFamily="34" charset="0"/>
                <a:cs typeface="SB Sans Text Light" panose="020B0303040504020204" pitchFamily="34" charset="0"/>
                <a:sym typeface="Helvetica"/>
              </a:rPr>
              <a:t>публичные API по FX / brokerage / депозитам /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кредитам / транзакциям — и сводная матрица.</a:t>
            </a:r>
            <a:endParaRPr kumimoji="0" lang="ru-RU" sz="1200" u="none" strike="noStrike" cap="none" spc="0" normalizeH="0" baseline="0" dirty="0">
              <a:ln>
                <a:noFill/>
              </a:ln>
              <a:solidFill>
                <a:srgbClr val="333F48"/>
              </a:solidFill>
              <a:effectLst/>
              <a:uFillTx/>
              <a:latin typeface="SB Sans Text Light" panose="020B0303040504020204" pitchFamily="34" charset="0"/>
              <a:cs typeface="SB Sans Text Light" panose="020B0303040504020204" pitchFamily="34" charset="0"/>
              <a:sym typeface="Helvet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46" name="Заголовок 1"/>
          <p:cNvSpPr txBox="1">
            <a:spLocks noGrp="1"/>
          </p:cNvSpPr>
          <p:nvPr>
            <p:ph type="title"/>
          </p:nvPr>
        </p:nvSpPr>
        <p:spPr>
          <a:xfrm>
            <a:off x="1163637" y="657225"/>
            <a:ext cx="9000002" cy="865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3F48"/>
                </a:solidFill>
              </a:defRPr>
            </a:lvl1pPr>
          </a:lstStyle>
          <a:p>
            <a:r>
              <a:rPr dirty="0" err="1"/>
              <a:t>Топ банков по активам</a:t>
            </a:r>
            <a:endParaRPr dirty="0"/>
          </a:p>
        </p:txBody>
      </p:sp>
      <p:graphicFrame>
        <p:nvGraphicFramePr>
          <p:cNvPr id="1847" name="Table"/>
          <p:cNvGraphicFramePr/>
          <p:nvPr>
            <p:extLst>
              <p:ext uri="{D42A27DB-BD31-4B8C-83A1-F6EECF244321}">
                <p14:modId xmlns:p14="http://schemas.microsoft.com/office/powerpoint/2010/main" val="2663187966"/>
              </p:ext>
            </p:extLst>
          </p:nvPr>
        </p:nvGraphicFramePr>
        <p:xfrm>
          <a:off x="1163637" y="1522412"/>
          <a:ext cx="9864726" cy="4681539"/>
        </p:xfrm>
        <a:graphic>
          <a:graphicData uri="http://schemas.openxmlformats.org/drawingml/2006/table">
            <a:tbl>
              <a:tblPr firstRow="1" lastRow="1">
                <a:tableStyleId>{4C3C2611-4C71-4FC5-86AE-919BDF0F9419}</a:tableStyleId>
              </a:tblPr>
              <a:tblGrid>
                <a:gridCol w="164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4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4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171">
                <a:tc>
                  <a:txBody>
                    <a:bodyPr/>
                    <a:lstStyle/>
                    <a:p>
                      <a:pPr algn="l" defTabSz="914400">
                        <a:tabLst>
                          <a:tab pos="16637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1"/>
                          </a:solidFill>
                          <a:latin typeface="SB Sans Display"/>
                          <a:ea typeface="SB Sans Display"/>
                          <a:cs typeface="SB Sans Display"/>
                          <a:sym typeface="SB Sans Display"/>
                        </a:rPr>
                        <a:t>#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tabLst>
                          <a:tab pos="16637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1"/>
                          </a:solidFill>
                          <a:latin typeface="SB Sans Display"/>
                          <a:ea typeface="SB Sans Display"/>
                          <a:cs typeface="SB Sans Display"/>
                          <a:sym typeface="SB Sans Display"/>
                        </a:rPr>
                        <a:t>Банк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tabLst>
                          <a:tab pos="16637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1"/>
                          </a:solidFill>
                          <a:latin typeface="SB Sans Display"/>
                          <a:ea typeface="SB Sans Display"/>
                          <a:cs typeface="SB Sans Display"/>
                          <a:sym typeface="SB Sans Display"/>
                        </a:rPr>
                        <a:t>Активы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tabLst>
                          <a:tab pos="16637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1"/>
                          </a:solidFill>
                          <a:latin typeface="SB Sans Display"/>
                          <a:ea typeface="SB Sans Display"/>
                          <a:cs typeface="SB Sans Display"/>
                          <a:sym typeface="SB Sans Display"/>
                        </a:rPr>
                        <a:t>Прибыль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tabLst>
                          <a:tab pos="16637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1"/>
                          </a:solidFill>
                          <a:latin typeface="SB Sans Display"/>
                          <a:ea typeface="SB Sans Display"/>
                          <a:cs typeface="SB Sans Display"/>
                          <a:sym typeface="SB Sans Display"/>
                        </a:rPr>
                        <a:t>Клиенты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tabLst>
                          <a:tab pos="16637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1"/>
                          </a:solidFill>
                          <a:latin typeface="SB Sans Display"/>
                          <a:ea typeface="SB Sans Display"/>
                          <a:cs typeface="SB Sans Display"/>
                          <a:sym typeface="SB Sans Display"/>
                        </a:rPr>
                        <a:t>Источник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chemeClr val="accent1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Сбербанк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chemeClr val="accent1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66,2 трлн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chemeClr val="accent1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1 694 млрд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chemeClr val="accent1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110,7 млн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chemeClr val="accent1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РИА 07.26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chemeClr val="accent1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ВТБ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36,4 трлн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502 млрд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30,3 млн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РИА 07.26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Газпромбанк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solidFill>
                      <a:srgbClr val="339189"/>
                    </a:solidFill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17,7 трлн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133 млрд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~5,7 млн*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РИА 07.26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Альфа-Банк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14,3 трлн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230 млрд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solidFill>
                      <a:srgbClr val="339189"/>
                    </a:solidFill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&gt;40 млн ФЛ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РИА 07.26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ПСБ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~9,5 трлн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−19/+33**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н/д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Brobank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Т-Банк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5,7 трлн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122 млрд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~34 млн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РИА 07.26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6350">
                      <a:solidFill>
                        <a:srgbClr val="D6D4D4"/>
                      </a:solidFill>
                    </a:lnB>
                    <a:solidFill>
                      <a:srgbClr val="339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pPr algn="l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РСХБ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5,5 трлн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н/д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н/д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177800" algn="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333F48"/>
                          </a:solidFill>
                          <a:latin typeface="SB Sans Text Light"/>
                          <a:ea typeface="SB Sans Text Light"/>
                          <a:cs typeface="SB Sans Text Light"/>
                          <a:sym typeface="SB Sans Text Light"/>
                        </a:rPr>
                        <a:t>РИА 07.26</a:t>
                      </a:r>
                    </a:p>
                  </a:txBody>
                  <a:tcPr marL="50800" marR="50800" marT="50800" marB="50800" anchor="ctr" horzOverflow="overflow">
                    <a:lnT w="6350">
                      <a:solidFill>
                        <a:srgbClr val="D6D4D4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17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МКБ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5,0 трлн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н/д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н/д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РИА 07.26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48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3" name="Заголовок 1"/>
          <p:cNvSpPr txBox="1"/>
          <p:nvPr/>
        </p:nvSpPr>
        <p:spPr>
          <a:xfrm>
            <a:off x="1163636" y="1033287"/>
            <a:ext cx="896335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rgbClr val="333F48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 err="1"/>
              <a:t>Лидеры: метрики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lang="ru-RU" dirty="0"/>
              <a:t/>
            </a:r>
            <a:endParaRPr dirty="0"/>
          </a:p>
        </p:txBody>
      </p:sp>
      <p:sp>
        <p:nvSpPr>
          <p:cNvPr id="574" name="Text Placeholder 52"/>
          <p:cNvSpPr txBox="1"/>
          <p:nvPr/>
        </p:nvSpPr>
        <p:spPr>
          <a:xfrm>
            <a:off x="1163637" y="2551615"/>
            <a:ext cx="4391774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dirty="0" err="1"/>
              <a:t>Активы 66,2 трлн ₽. Прибыль 1 694 млрд ₽ (РСБУ 2025). Клиенты: 110,7 млн розн., 3,5 млн корп.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575" name="Object34"/>
          <p:cNvSpPr txBox="1"/>
          <p:nvPr/>
        </p:nvSpPr>
        <p:spPr>
          <a:xfrm>
            <a:off x="1163637" y="2211629"/>
            <a:ext cx="439177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1. Сбербанк</a:t>
            </a:r>
            <a:r>
              <a:rPr dirty="0" err="1"/>
              <a:t/>
            </a:r>
            <a:endParaRPr dirty="0"/>
          </a:p>
        </p:txBody>
      </p:sp>
      <p:sp>
        <p:nvSpPr>
          <p:cNvPr id="576" name="Object34"/>
          <p:cNvSpPr txBox="1"/>
          <p:nvPr/>
        </p:nvSpPr>
        <p:spPr>
          <a:xfrm>
            <a:off x="6661977" y="2211629"/>
            <a:ext cx="436638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2. ВТБ</a:t>
            </a:r>
            <a:r>
              <a:rPr dirty="0" err="1"/>
              <a:t/>
            </a:r>
            <a:endParaRPr dirty="0"/>
          </a:p>
        </p:txBody>
      </p:sp>
      <p:sp>
        <p:nvSpPr>
          <p:cNvPr id="579" name="Object34"/>
          <p:cNvSpPr txBox="1"/>
          <p:nvPr/>
        </p:nvSpPr>
        <p:spPr>
          <a:xfrm>
            <a:off x="1163637" y="4153982"/>
            <a:ext cx="439177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3. Газпромбанк</a:t>
            </a:r>
            <a:r>
              <a:rPr dirty="0" err="1"/>
              <a:t/>
            </a:r>
            <a:endParaRPr dirty="0"/>
          </a:p>
        </p:txBody>
      </p:sp>
      <p:sp>
        <p:nvSpPr>
          <p:cNvPr id="580" name="Object34"/>
          <p:cNvSpPr txBox="1"/>
          <p:nvPr/>
        </p:nvSpPr>
        <p:spPr>
          <a:xfrm>
            <a:off x="6661977" y="4153982"/>
            <a:ext cx="439177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4. Альфа-Банк</a:t>
            </a:r>
            <a:r>
              <a:rPr dirty="0" err="1"/>
              <a:t/>
            </a:r>
            <a:endParaRPr dirty="0"/>
          </a:p>
        </p:txBody>
      </p:sp>
      <p:pic>
        <p:nvPicPr>
          <p:cNvPr id="582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583" name="Slide Number Placeholder 9"/>
          <p:cNvSpPr txBox="1">
            <a:spLocks noGrp="1"/>
          </p:cNvSpPr>
          <p:nvPr>
            <p:ph type="sldNum" sz="quarter" idx="4294967295"/>
          </p:nvPr>
        </p:nvSpPr>
        <p:spPr>
          <a:xfrm>
            <a:off x="11663172" y="6408409"/>
            <a:ext cx="1475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indent="0" defTabSz="914400">
              <a:tabLst/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4</a:t>
            </a:r>
            <a:endParaRPr/>
          </a:p>
        </p:txBody>
      </p:sp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345E8F10-C851-3442-B9D1-C238A96BD2D4}"/>
              </a:ext>
            </a:extLst>
          </p:cNvPr>
          <p:cNvSpPr txBox="1"/>
          <p:nvPr/>
        </p:nvSpPr>
        <p:spPr>
          <a:xfrm>
            <a:off x="1163637" y="4492624"/>
            <a:ext cx="439177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Активы 17,7 трлн ₽. Прибыль 133 млрд ₽ (МСФО 2025). Розничная база ~5,7 млн (итог 2024).</a:t>
            </a:r>
          </a:p>
          <a:p>
            <a:r>
              <a:rPr lang="ru-RU" dirty="0"/>
              <a:t/>
            </a:r>
            <a:endParaRPr dirty="0"/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99F638F2-5794-8547-8CC3-318D89ACE219}"/>
              </a:ext>
            </a:extLst>
          </p:cNvPr>
          <p:cNvSpPr txBox="1"/>
          <p:nvPr/>
        </p:nvSpPr>
        <p:spPr>
          <a:xfrm>
            <a:off x="6662737" y="2551615"/>
            <a:ext cx="439177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Активы 36,4 трлн ₽. Прибыль 502 млрд ₽ (МСФО 2025). Активных розн. клиентов — 30,3 млн.</a:t>
            </a:r>
            <a:endParaRPr dirty="0"/>
          </a:p>
        </p:txBody>
      </p:sp>
      <p:sp>
        <p:nvSpPr>
          <p:cNvPr id="15" name="Text Placeholder 52">
            <a:extLst>
              <a:ext uri="{FF2B5EF4-FFF2-40B4-BE49-F238E27FC236}">
                <a16:creationId xmlns:a16="http://schemas.microsoft.com/office/drawing/2014/main" id="{A77597A4-F531-6E44-8CD3-1EAEF8AE17F0}"/>
              </a:ext>
            </a:extLst>
          </p:cNvPr>
          <p:cNvSpPr txBox="1"/>
          <p:nvPr/>
        </p:nvSpPr>
        <p:spPr>
          <a:xfrm>
            <a:off x="6662737" y="4492624"/>
            <a:ext cx="439177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Активы 14,3 трлн ₽. Прибыль 230 млрд ₽ (МСФО 2025). Клиентская база &gt;40 млн ФЛ и &gt;2 млн ЮЛ.</a:t>
            </a:r>
          </a:p>
          <a:p>
            <a:r>
              <a:rPr lang="ru-RU" dirty="0"/>
              <a:t/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" name="Овал 16">
            <a:extLst>
              <a:ext uri="{FF2B5EF4-FFF2-40B4-BE49-F238E27FC236}">
                <a16:creationId xmlns:a16="http://schemas.microsoft.com/office/drawing/2014/main" id="{BE17CC6E-46F5-C94F-BC80-177CBED9A07D}"/>
              </a:ext>
            </a:extLst>
          </p:cNvPr>
          <p:cNvSpPr/>
          <p:nvPr/>
        </p:nvSpPr>
        <p:spPr>
          <a:xfrm>
            <a:off x="1169904" y="3171726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54" name="Овал 16">
            <a:extLst>
              <a:ext uri="{FF2B5EF4-FFF2-40B4-BE49-F238E27FC236}">
                <a16:creationId xmlns:a16="http://schemas.microsoft.com/office/drawing/2014/main" id="{4FDB6BC6-5DEE-4F4A-9FFC-026CB642FCE3}"/>
              </a:ext>
            </a:extLst>
          </p:cNvPr>
          <p:cNvSpPr/>
          <p:nvPr/>
        </p:nvSpPr>
        <p:spPr>
          <a:xfrm>
            <a:off x="5198764" y="3171726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57" name="Овал 16">
            <a:extLst>
              <a:ext uri="{FF2B5EF4-FFF2-40B4-BE49-F238E27FC236}">
                <a16:creationId xmlns:a16="http://schemas.microsoft.com/office/drawing/2014/main" id="{A82DB070-F53D-D14B-9620-FBEBE3F58F72}"/>
              </a:ext>
            </a:extLst>
          </p:cNvPr>
          <p:cNvSpPr/>
          <p:nvPr/>
        </p:nvSpPr>
        <p:spPr>
          <a:xfrm>
            <a:off x="9145121" y="3171726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63" name="Овал 16">
            <a:extLst>
              <a:ext uri="{FF2B5EF4-FFF2-40B4-BE49-F238E27FC236}">
                <a16:creationId xmlns:a16="http://schemas.microsoft.com/office/drawing/2014/main" id="{0B9323AB-7669-5548-ACE5-264459007371}"/>
              </a:ext>
            </a:extLst>
          </p:cNvPr>
          <p:cNvSpPr/>
          <p:nvPr/>
        </p:nvSpPr>
        <p:spPr>
          <a:xfrm>
            <a:off x="3129940" y="3174687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66" name="Овал 16">
            <a:extLst>
              <a:ext uri="{FF2B5EF4-FFF2-40B4-BE49-F238E27FC236}">
                <a16:creationId xmlns:a16="http://schemas.microsoft.com/office/drawing/2014/main" id="{9603CABB-C109-2849-AD80-50DD2D57D816}"/>
              </a:ext>
            </a:extLst>
          </p:cNvPr>
          <p:cNvSpPr/>
          <p:nvPr/>
        </p:nvSpPr>
        <p:spPr>
          <a:xfrm>
            <a:off x="7170426" y="3174687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504" name="Заголовок 1"/>
          <p:cNvSpPr txBox="1">
            <a:spLocks noGrp="1"/>
          </p:cNvSpPr>
          <p:nvPr>
            <p:ph type="title"/>
          </p:nvPr>
        </p:nvSpPr>
        <p:spPr>
          <a:xfrm>
            <a:off x="1163637" y="657225"/>
            <a:ext cx="9000002" cy="8924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3F48"/>
                </a:solidFill>
              </a:defRPr>
            </a:lvl1pPr>
          </a:lstStyle>
          <a:p>
            <a:r>
              <a:rPr lang="ru-RU" dirty="0"/>
              <a:t>Категории API</a:t>
            </a:r>
            <a:endParaRPr dirty="0"/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314085A0-99AE-2B4B-BEC2-77C58E1C4884}"/>
              </a:ext>
            </a:extLst>
          </p:cNvPr>
          <p:cNvSpPr txBox="1">
            <a:spLocks/>
          </p:cNvSpPr>
          <p:nvPr/>
        </p:nvSpPr>
        <p:spPr>
          <a:xfrm>
            <a:off x="5158506" y="1847118"/>
            <a:ext cx="2571957" cy="132460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Депозиты / swap / fwd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Депозиты, НСО; FX swap и forward в CIB/eFX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46FCA60A-6E7C-524E-ACC8-F6A4299D4466}"/>
              </a:ext>
            </a:extLst>
          </p:cNvPr>
          <p:cNvSpPr txBox="1">
            <a:spLocks/>
          </p:cNvSpPr>
          <p:nvPr/>
        </p:nvSpPr>
        <p:spPr>
          <a:xfrm>
            <a:off x="9123627" y="1844104"/>
            <a:ext cx="2852575" cy="1332483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Brokerage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Котировки и портфель; покупка/продажа ценных бумаг (T-Invest / Alfa PRO)</a:t>
            </a:r>
            <a:b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</a:b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  <a:p>
            <a:pPr hangingPunct="1"/>
            <a:endParaRPr lang="en-US" sz="1200" dirty="0">
              <a:latin typeface="SB Sans Text Light" panose="020B0303040504020204" pitchFamily="34" charset="0"/>
              <a:cs typeface="SB Sans Text Light" panose="020B0303040504020204" pitchFamily="34" charset="0"/>
            </a:endParaRP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02F5CA50-13C5-8D42-BF29-BE03D301079F}"/>
              </a:ext>
            </a:extLst>
          </p:cNvPr>
          <p:cNvSpPr txBox="1">
            <a:spLocks/>
          </p:cNvSpPr>
          <p:nvPr/>
        </p:nvSpPr>
        <p:spPr>
          <a:xfrm>
            <a:off x="1096402" y="1844104"/>
            <a:ext cx="2601705" cy="1332483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FX spot</a:t>
            </a:r>
          </a:p>
          <a:p>
            <a:pPr hangingPunct="1"/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Конверсия и спот через Open API или eFX-терминал</a:t>
            </a:r>
            <a:r>
              <a:rPr lang="en-US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66433B3B-BD7B-8042-871F-793756547F86}"/>
              </a:ext>
            </a:extLst>
          </p:cNvPr>
          <p:cNvSpPr txBox="1">
            <a:spLocks/>
          </p:cNvSpPr>
          <p:nvPr/>
        </p:nvSpPr>
        <p:spPr>
          <a:xfrm>
            <a:off x="2979905" y="4444871"/>
            <a:ext cx="2571957" cy="182395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Transactions</a:t>
            </a:r>
            <a:b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</a:b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/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Платежи, выписки, H2H / Open API / sandbox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582295CE-A3DB-A941-920D-F6C1F94539B5}"/>
              </a:ext>
            </a:extLst>
          </p:cNvPr>
          <p:cNvSpPr txBox="1">
            <a:spLocks/>
          </p:cNvSpPr>
          <p:nvPr/>
        </p:nvSpPr>
        <p:spPr>
          <a:xfrm>
            <a:off x="7164159" y="4444870"/>
            <a:ext cx="2403544" cy="21032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Credits + rates</a:t>
            </a:r>
          </a:p>
          <a:p>
            <a:pPr>
              <a:lnSpc>
                <a:spcPct val="100000"/>
              </a:lnSpc>
            </a:pPr>
            <a:r>
              <a:rPr lang="ru-RU" sz="1200" dirty="0" err="1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Кредитные API; cap/floor публично не найдены</a:t>
            </a: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br>
              <a:rPr lang="en-US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</a:b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r>
              <a:rPr lang="ru-RU" sz="1200" dirty="0" err="1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endParaRPr lang="ru-RU" sz="1200" dirty="0">
              <a:solidFill>
                <a:srgbClr val="333F48"/>
              </a:solidFill>
              <a:latin typeface="SB Sans Text Light" panose="020B0303040504020204" pitchFamily="34" charset="0"/>
              <a:cs typeface="SB Sans Text Light" panose="020B0303040504020204" pitchFamily="34" charset="0"/>
            </a:endParaRPr>
          </a:p>
        </p:txBody>
      </p:sp>
      <p:pic>
        <p:nvPicPr>
          <p:cNvPr id="19" name="Рисунок 86" descr="Рисунок 86">
            <a:extLst>
              <a:ext uri="{FF2B5EF4-FFF2-40B4-BE49-F238E27FC236}">
                <a16:creationId xmlns:a16="http://schemas.microsoft.com/office/drawing/2014/main" id="{4FD19A20-0B53-8C4F-96BA-7233D241F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675" y="3461889"/>
            <a:ext cx="363645" cy="337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Рисунок 92" descr="Рисунок 92">
            <a:extLst>
              <a:ext uri="{FF2B5EF4-FFF2-40B4-BE49-F238E27FC236}">
                <a16:creationId xmlns:a16="http://schemas.microsoft.com/office/drawing/2014/main" id="{FC9626C2-68EA-DD4F-A0C3-82880B3D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94" y="3485181"/>
            <a:ext cx="358078" cy="3598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CA1A851-5C2D-CC45-A8F5-72268B7FA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40" y="3410877"/>
            <a:ext cx="361024" cy="44343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1DCBF2E-CC33-B945-9712-0917D95BB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26" y="3444840"/>
            <a:ext cx="381429" cy="3795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DC9B6AA-917D-8942-A80E-C5B2EB73F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931" y="3485180"/>
            <a:ext cx="369127" cy="369127"/>
          </a:xfrm>
          <a:prstGeom prst="rect">
            <a:avLst/>
          </a:prstGeom>
        </p:spPr>
      </p:pic>
      <p:sp>
        <p:nvSpPr>
          <p:cNvPr id="24" name="Номер слайда">
            <a:extLst>
              <a:ext uri="{FF2B5EF4-FFF2-40B4-BE49-F238E27FC236}">
                <a16:creationId xmlns:a16="http://schemas.microsoft.com/office/drawing/2014/main" id="{29504947-B1F2-1546-8E6C-E09ABDF68F0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46" name="Заголовок 1"/>
          <p:cNvSpPr txBox="1">
            <a:spLocks noGrp="1"/>
          </p:cNvSpPr>
          <p:nvPr>
            <p:ph type="title"/>
          </p:nvPr>
        </p:nvSpPr>
        <p:spPr>
          <a:xfrm>
            <a:off x="1163637" y="657225"/>
            <a:ext cx="9000002" cy="900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323F48"/>
                </a:solidFill>
              </a:defRPr>
            </a:lvl1pPr>
          </a:lstStyle>
          <a:p>
            <a:r>
              <a:rPr lang="ru-RU" dirty="0"/>
              <a:t>Матрица банк × API</a:t>
            </a:r>
            <a:endParaRPr dirty="0"/>
          </a:p>
        </p:txBody>
      </p:sp>
      <p:sp>
        <p:nvSpPr>
          <p:cNvPr id="1848" name="Номер слайда"/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6</a:t>
            </a:r>
            <a:endParaRPr/>
          </a:p>
        </p:txBody>
      </p:sp>
      <p:graphicFrame>
        <p:nvGraphicFramePr>
          <p:cNvPr id="15" name="object 171">
            <a:extLst>
              <a:ext uri="{FF2B5EF4-FFF2-40B4-BE49-F238E27FC236}">
                <a16:creationId xmlns:a16="http://schemas.microsoft.com/office/drawing/2014/main" id="{DBF682EE-9C53-8B49-92F8-EBA53CC8D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669096"/>
              </p:ext>
            </p:extLst>
          </p:nvPr>
        </p:nvGraphicFramePr>
        <p:xfrm>
          <a:off x="1163637" y="1516582"/>
          <a:ext cx="10321736" cy="4402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78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1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6628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uk-UA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Банк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038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FX spot</a:t>
                      </a: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Broker</a:t>
                      </a:r>
                      <a:endParaRPr lang="en-GB" sz="1200" b="0" i="0" dirty="0">
                        <a:solidFill>
                          <a:srgbClr val="00766C"/>
                        </a:solidFill>
                        <a:effectLst/>
                        <a:latin typeface="SB Sans Display" panose="020B0503040504020204" pitchFamily="34" charset="0"/>
                        <a:ea typeface="Calibri" charset="0"/>
                        <a:cs typeface="SB Sans Display" panose="020B0503040504020204" pitchFamily="34" charset="0"/>
                      </a:endParaRP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Dep/Swap</a:t>
                      </a:r>
                      <a:endParaRPr lang="en-GB" sz="1200" b="0" i="0" dirty="0">
                        <a:solidFill>
                          <a:srgbClr val="00766C"/>
                        </a:solidFill>
                        <a:effectLst/>
                        <a:latin typeface="SB Sans Display" panose="020B0503040504020204" pitchFamily="34" charset="0"/>
                        <a:ea typeface="Calibri" charset="0"/>
                        <a:cs typeface="SB Sans Display" panose="020B0503040504020204" pitchFamily="34" charset="0"/>
                      </a:endParaRP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Credits</a:t>
                      </a:r>
                      <a:r>
                        <a:rPr lang="en-GB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/>
                      </a:r>
                      <a:endParaRPr lang="en-GB" sz="1200" b="0" i="0" dirty="0">
                        <a:solidFill>
                          <a:srgbClr val="00766C"/>
                        </a:solidFill>
                        <a:effectLst/>
                        <a:latin typeface="SB Sans Display" panose="020B0503040504020204" pitchFamily="34" charset="0"/>
                        <a:ea typeface="Calibri" charset="0"/>
                        <a:cs typeface="SB Sans Display" panose="020B0503040504020204" pitchFamily="34" charset="0"/>
                      </a:endParaRP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Txn</a:t>
                      </a:r>
                      <a:endParaRPr lang="en-GB" sz="1200" b="0" i="0" dirty="0">
                        <a:solidFill>
                          <a:srgbClr val="00766C"/>
                        </a:solidFill>
                        <a:effectLst/>
                        <a:latin typeface="SB Sans Display" panose="020B0503040504020204" pitchFamily="34" charset="0"/>
                        <a:ea typeface="Calibri" charset="0"/>
                        <a:cs typeface="SB Sans Display" panose="020B0503040504020204" pitchFamily="34" charset="0"/>
                      </a:endParaRP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0" i="0" kern="120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ea typeface="+mn-ea"/>
                          <a:cs typeface="SB Sans Display" panose="020B0503040504020204" pitchFamily="34" charset="0"/>
                        </a:rPr>
                        <a:t>Доступ</a:t>
                      </a:r>
                      <a:endParaRPr lang="en-GB" sz="1200" b="0" i="0" dirty="0">
                        <a:solidFill>
                          <a:srgbClr val="00766C"/>
                        </a:solidFill>
                        <a:effectLst/>
                        <a:latin typeface="SB Sans Display" panose="020B0503040504020204" pitchFamily="34" charset="0"/>
                        <a:ea typeface="Calibri" charset="0"/>
                        <a:cs typeface="SB Sans Display" panose="020B0503040504020204" pitchFamily="34" charset="0"/>
                      </a:endParaRP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0" i="0" dirty="0">
                          <a:solidFill>
                            <a:srgbClr val="00766C"/>
                          </a:solidFill>
                          <a:effectLst/>
                          <a:latin typeface="SB Sans Display" panose="020B0503040504020204" pitchFamily="34" charset="0"/>
                          <a:cs typeface="SB Sans Display" panose="020B0503040504020204" pitchFamily="34" charset="0"/>
                        </a:rPr>
                        <a:t>Коммент</a:t>
                      </a:r>
                      <a:endParaRPr lang="en-GB" sz="1200" b="0" i="0" dirty="0">
                        <a:solidFill>
                          <a:srgbClr val="00766C"/>
                        </a:solidFill>
                        <a:effectLst/>
                        <a:latin typeface="SB Sans Display" panose="020B0503040504020204" pitchFamily="34" charset="0"/>
                        <a:ea typeface="Calibri" charset="0"/>
                        <a:cs typeface="SB Sans Display" panose="020B0503040504020204" pitchFamily="34" charset="0"/>
                      </a:endParaRPr>
                    </a:p>
                  </a:txBody>
                  <a:tcPr marL="36000" anchor="ctr">
                    <a:lnL>
                      <a:noFill/>
                    </a:lnL>
                    <a:lnR>
                      <a:noFill/>
                    </a:lnR>
                    <a:lnT w="28575">
                      <a:noFill/>
                      <a:prstDash val="solid"/>
                    </a:lnT>
                    <a:lnB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324">
                <a:tc rowSpan="4">
                  <a:txBody>
                    <a:bodyPr/>
                    <a:lstStyle/>
                    <a:p>
                      <a:pPr marR="243840" indent="0" algn="l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00" b="0" i="0" spc="-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Сбер</a:t>
                      </a:r>
                      <a:r>
                        <a:rPr sz="1200" b="0" i="0" spc="-14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◐</a:t>
                      </a:r>
                      <a:r>
                        <a:rPr sz="1200" b="0" i="0" spc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5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Open API+CIB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Депозиты, conv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91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324">
                <a:tc vMerge="1">
                  <a:txBody>
                    <a:bodyPr/>
                    <a:lstStyle/>
                    <a:p>
                      <a:r>
                        <a:t>ВТБ</a:t>
                      </a: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◐</a:t>
                      </a:r>
                      <a:r>
                        <a:rPr sz="1200" b="0" i="0" spc="-7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7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1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7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H2H+eFX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Терминал FX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324">
                <a:tc vMerge="1">
                  <a:txBody>
                    <a:bodyPr/>
                    <a:lstStyle/>
                    <a:p>
                      <a:r>
                        <a:t>ГПБ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◐</a:t>
                      </a: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H2H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API курсов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324">
                <a:tc vMerge="1">
                  <a:txBody>
                    <a:bodyPr/>
                    <a:lstStyle/>
                    <a:p>
                      <a:r>
                        <a:t>Альфа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F796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b="0" i="0" spc="-1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◐</a:t>
                      </a: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6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API+H2H+PRO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Сильный portal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6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324">
                <a:tc rowSpan="4">
                  <a:txBody>
                    <a:bodyPr/>
                    <a:lstStyle/>
                    <a:p>
                      <a:pPr marR="243840" lvl="3" indent="0" algn="l">
                        <a:lnSpc>
                          <a:spcPts val="1260"/>
                        </a:lnSpc>
                        <a:spcBef>
                          <a:spcPts val="400"/>
                        </a:spcBef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ПСБ</a:t>
                      </a:r>
                      <a:r>
                        <a:rPr lang="ru-RU" sz="1200" b="0" i="0" spc="-14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lang="ru-RU" sz="1200" b="0" i="0" spc="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br>
                        <a:rPr lang="ru-RU" sz="1200" b="0" i="0" spc="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</a:br>
                      <a:r>
                        <a:rPr lang="ru-RU"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lang="ru-RU" sz="1200" b="0" i="0" spc="-2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lang="ru-RU"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</a:p>
                  </a:txBody>
                  <a:tcPr marL="7200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0" i="0" spc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❌</a:t>
                      </a:r>
                      <a:r>
                        <a:rPr sz="1200" b="0" i="0" spc="-1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2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H2H OpenAPI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Пилоты OB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324">
                <a:tc vMerge="1">
                  <a:txBody>
                    <a:bodyPr/>
                    <a:lstStyle/>
                    <a:p>
                      <a:r>
                        <a:t>Т-Банк</a:t>
                      </a: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◐</a:t>
                      </a:r>
                      <a:r>
                        <a:rPr sz="1200" b="0" i="0" spc="-7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7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1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7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T-API+Invest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Макс. каталог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324">
                <a:tc vMerge="1">
                  <a:txBody>
                    <a:bodyPr/>
                    <a:lstStyle/>
                    <a:p>
                      <a:r>
                        <a:t>РСХБ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❌</a:t>
                      </a:r>
                      <a:r>
                        <a:rPr sz="1200" b="0" i="0" spc="-12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н/д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Не найдено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961">
                <a:tc vMerge="1">
                  <a:txBody>
                    <a:bodyPr/>
                    <a:lstStyle/>
                    <a:p>
                      <a:r>
                        <a:t>МКБ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7C7F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❌</a:t>
                      </a:r>
                      <a:r>
                        <a:rPr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5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1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Пилоты OB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Частично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324">
                <a:tc rowSpan="3">
                  <a:txBody>
                    <a:bodyPr/>
                    <a:lstStyle/>
                    <a:p>
                      <a:pPr marR="24384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ДОМ.РФ</a:t>
                      </a:r>
                      <a:r>
                        <a:rPr sz="1200" b="0" i="0" spc="-2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</a:p>
                  </a:txBody>
                  <a:tcPr marL="7200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0" i="0" spc="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❌</a:t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Пилоты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Ипотека API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324">
                <a:tc vMerge="1">
                  <a:txBody>
                    <a:bodyPr/>
                    <a:lstStyle/>
                    <a:p>
                      <a:r>
                        <a:t>Совком</a:t>
                      </a: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b="0" i="0" spc="-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❌</a:t>
                      </a:r>
                      <a:r>
                        <a:rPr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15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1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◐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Partner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Ипотека/страх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5618">
                <a:tc vMerge="1">
                  <a:txBody>
                    <a:bodyPr/>
                    <a:lstStyle/>
                    <a:p>
                      <a:r>
                        <a:t>Легенда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9C7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b="0" i="0" spc="-15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>✅ есть</a:t>
                      </a:r>
                      <a:r>
                        <a:rPr sz="1200" b="0" i="0" spc="-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5" dirty="0" err="1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br>
                        <a:rPr lang="ru-RU" sz="1200" b="0" i="0" spc="-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</a:br>
                      <a:r>
                        <a:rPr sz="1200" b="0" i="0" spc="-5" dirty="0" err="1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-5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r>
                        <a:rPr sz="1200" b="0" i="0" spc="0" dirty="0">
                          <a:solidFill>
                            <a:schemeClr val="tx1"/>
                          </a:solidFill>
                          <a:latin typeface="SB Sans Text Light" panose="020B0303040504020204" pitchFamily="34" charset="0"/>
                          <a:cs typeface="SB Sans Text Light" panose="020B0303040504020204" pitchFamily="34" charset="0"/>
                        </a:rPr>
                        <a:t/>
                      </a:r>
                      <a:endParaRPr sz="1200" b="0" i="0" dirty="0">
                        <a:solidFill>
                          <a:schemeClr val="tx1"/>
                        </a:solidFill>
                        <a:latin typeface="SB Sans Text Light" panose="020B0303040504020204" pitchFamily="34" charset="0"/>
                        <a:cs typeface="SB Sans Text Light" panose="020B0303040504020204" pitchFamily="34" charset="0"/>
                      </a:endParaRPr>
                    </a:p>
                  </a:txBody>
                  <a:tcPr marL="72000" marR="72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◐ част.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❌ нет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публ. источн.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окт 2026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3" name="Заголовок 1"/>
          <p:cNvSpPr txBox="1"/>
          <p:nvPr/>
        </p:nvSpPr>
        <p:spPr>
          <a:xfrm>
            <a:off x="1163636" y="1033287"/>
            <a:ext cx="896335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rgbClr val="333F48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 err="1"/>
              <a:t>Лидеры по API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lang="ru-RU" dirty="0"/>
              <a:t/>
            </a:r>
            <a:endParaRPr dirty="0"/>
          </a:p>
        </p:txBody>
      </p:sp>
      <p:sp>
        <p:nvSpPr>
          <p:cNvPr id="574" name="Text Placeholder 52"/>
          <p:cNvSpPr txBox="1"/>
          <p:nvPr/>
        </p:nvSpPr>
        <p:spPr>
          <a:xfrm>
            <a:off x="1163637" y="2551615"/>
            <a:ext cx="4391774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dirty="0" err="1"/>
              <a:t>T-API Business + T-Invest: платежи, депозиты, котировки и покупка/продажа ценных бумаг.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575" name="Object34"/>
          <p:cNvSpPr txBox="1"/>
          <p:nvPr/>
        </p:nvSpPr>
        <p:spPr>
          <a:xfrm>
            <a:off x="1163637" y="2211629"/>
            <a:ext cx="439177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1. Т-Банк</a:t>
            </a:r>
            <a:r>
              <a:rPr dirty="0" err="1"/>
              <a:t/>
            </a:r>
            <a:endParaRPr dirty="0"/>
          </a:p>
        </p:txBody>
      </p:sp>
      <p:sp>
        <p:nvSpPr>
          <p:cNvPr id="576" name="Object34"/>
          <p:cNvSpPr txBox="1"/>
          <p:nvPr/>
        </p:nvSpPr>
        <p:spPr>
          <a:xfrm>
            <a:off x="6661977" y="2211629"/>
            <a:ext cx="436638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2. Сбербанк</a:t>
            </a:r>
            <a:r>
              <a:rPr dirty="0" err="1"/>
              <a:t/>
            </a:r>
            <a:endParaRPr dirty="0"/>
          </a:p>
        </p:txBody>
      </p:sp>
      <p:sp>
        <p:nvSpPr>
          <p:cNvPr id="579" name="Object34"/>
          <p:cNvSpPr txBox="1"/>
          <p:nvPr/>
        </p:nvSpPr>
        <p:spPr>
          <a:xfrm>
            <a:off x="1163637" y="4153982"/>
            <a:ext cx="4391774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3. Альфа-Банк</a:t>
            </a:r>
            <a:r>
              <a:rPr dirty="0" err="1"/>
              <a:t/>
            </a:r>
            <a:endParaRPr dirty="0"/>
          </a:p>
        </p:txBody>
      </p:sp>
      <p:sp>
        <p:nvSpPr>
          <p:cNvPr id="580" name="Object34"/>
          <p:cNvSpPr txBox="1"/>
          <p:nvPr/>
        </p:nvSpPr>
        <p:spPr>
          <a:xfrm>
            <a:off x="6661977" y="4153982"/>
            <a:ext cx="439177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600"/>
              </a:lnSpc>
              <a:defRPr sz="1600">
                <a:solidFill>
                  <a:srgbClr val="339189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/>
              <a:t>4. ВТБ / ГПБ</a:t>
            </a:r>
            <a:r>
              <a:rPr dirty="0" err="1"/>
              <a:t/>
            </a:r>
            <a:endParaRPr dirty="0"/>
          </a:p>
        </p:txBody>
      </p:sp>
      <p:pic>
        <p:nvPicPr>
          <p:cNvPr id="582" name="Object 3" descr="Object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583" name="Slide Number Placeholder 9"/>
          <p:cNvSpPr txBox="1">
            <a:spLocks noGrp="1"/>
          </p:cNvSpPr>
          <p:nvPr>
            <p:ph type="sldNum" sz="quarter" idx="4294967295"/>
          </p:nvPr>
        </p:nvSpPr>
        <p:spPr>
          <a:xfrm>
            <a:off x="11663172" y="6408409"/>
            <a:ext cx="1475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indent="0" defTabSz="914400">
              <a:tabLst/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7</a:t>
            </a:r>
            <a:endParaRPr/>
          </a:p>
        </p:txBody>
      </p:sp>
      <p:sp>
        <p:nvSpPr>
          <p:cNvPr id="13" name="Text Placeholder 52">
            <a:extLst>
              <a:ext uri="{FF2B5EF4-FFF2-40B4-BE49-F238E27FC236}">
                <a16:creationId xmlns:a16="http://schemas.microsoft.com/office/drawing/2014/main" id="{345E8F10-C851-3442-B9D1-C238A96BD2D4}"/>
              </a:ext>
            </a:extLst>
          </p:cNvPr>
          <p:cNvSpPr txBox="1"/>
          <p:nvPr/>
        </p:nvSpPr>
        <p:spPr>
          <a:xfrm>
            <a:off x="1163637" y="4492624"/>
            <a:ext cx="439177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Alfa API + Альфа-Линк H2H + Альфа-Инвестиции PRO: платежи, котировки и покупка/продажа ценных бумаг.</a:t>
            </a:r>
          </a:p>
          <a:p>
            <a:r>
              <a:rPr lang="ru-RU" dirty="0"/>
              <a:t/>
            </a:r>
            <a:endParaRPr dirty="0"/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99F638F2-5794-8547-8CC3-318D89ACE219}"/>
              </a:ext>
            </a:extLst>
          </p:cNvPr>
          <p:cNvSpPr txBox="1"/>
          <p:nvPr/>
        </p:nvSpPr>
        <p:spPr>
          <a:xfrm>
            <a:off x="6662737" y="2551615"/>
            <a:ext cx="439177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Sber API: платежи, депозиты, FX conversion. SberCIB Terminal: SPOT/SWAP/FWD (API заявлено).</a:t>
            </a:r>
            <a:endParaRPr dirty="0"/>
          </a:p>
        </p:txBody>
      </p:sp>
      <p:sp>
        <p:nvSpPr>
          <p:cNvPr id="15" name="Text Placeholder 52">
            <a:extLst>
              <a:ext uri="{FF2B5EF4-FFF2-40B4-BE49-F238E27FC236}">
                <a16:creationId xmlns:a16="http://schemas.microsoft.com/office/drawing/2014/main" id="{A77597A4-F531-6E44-8CD3-1EAEF8AE17F0}"/>
              </a:ext>
            </a:extLst>
          </p:cNvPr>
          <p:cNvSpPr txBox="1"/>
          <p:nvPr/>
        </p:nvSpPr>
        <p:spPr>
          <a:xfrm>
            <a:off x="6662737" y="4492624"/>
            <a:ext cx="439177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333F48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ВТБ: ИБК H2H и eFX-терминал. ГПБ: H2H ISO 20022 и открытый API курсов. Invest API нет.</a:t>
            </a:r>
          </a:p>
          <a:p>
            <a:r>
              <a:rPr lang="ru-RU" dirty="0"/>
              <a:t/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" name="Овал 16">
            <a:extLst>
              <a:ext uri="{FF2B5EF4-FFF2-40B4-BE49-F238E27FC236}">
                <a16:creationId xmlns:a16="http://schemas.microsoft.com/office/drawing/2014/main" id="{BE17CC6E-46F5-C94F-BC80-177CBED9A07D}"/>
              </a:ext>
            </a:extLst>
          </p:cNvPr>
          <p:cNvSpPr/>
          <p:nvPr/>
        </p:nvSpPr>
        <p:spPr>
          <a:xfrm>
            <a:off x="1169904" y="3171726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54" name="Овал 16">
            <a:extLst>
              <a:ext uri="{FF2B5EF4-FFF2-40B4-BE49-F238E27FC236}">
                <a16:creationId xmlns:a16="http://schemas.microsoft.com/office/drawing/2014/main" id="{4FDB6BC6-5DEE-4F4A-9FFC-026CB642FCE3}"/>
              </a:ext>
            </a:extLst>
          </p:cNvPr>
          <p:cNvSpPr/>
          <p:nvPr/>
        </p:nvSpPr>
        <p:spPr>
          <a:xfrm>
            <a:off x="5198764" y="3171726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57" name="Овал 16">
            <a:extLst>
              <a:ext uri="{FF2B5EF4-FFF2-40B4-BE49-F238E27FC236}">
                <a16:creationId xmlns:a16="http://schemas.microsoft.com/office/drawing/2014/main" id="{A82DB070-F53D-D14B-9620-FBEBE3F58F72}"/>
              </a:ext>
            </a:extLst>
          </p:cNvPr>
          <p:cNvSpPr/>
          <p:nvPr/>
        </p:nvSpPr>
        <p:spPr>
          <a:xfrm>
            <a:off x="9145121" y="3171726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63" name="Овал 16">
            <a:extLst>
              <a:ext uri="{FF2B5EF4-FFF2-40B4-BE49-F238E27FC236}">
                <a16:creationId xmlns:a16="http://schemas.microsoft.com/office/drawing/2014/main" id="{0B9323AB-7669-5548-ACE5-264459007371}"/>
              </a:ext>
            </a:extLst>
          </p:cNvPr>
          <p:cNvSpPr/>
          <p:nvPr/>
        </p:nvSpPr>
        <p:spPr>
          <a:xfrm>
            <a:off x="3129940" y="3174687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66" name="Овал 16">
            <a:extLst>
              <a:ext uri="{FF2B5EF4-FFF2-40B4-BE49-F238E27FC236}">
                <a16:creationId xmlns:a16="http://schemas.microsoft.com/office/drawing/2014/main" id="{9603CABB-C109-2849-AD80-50DD2D57D816}"/>
              </a:ext>
            </a:extLst>
          </p:cNvPr>
          <p:cNvSpPr/>
          <p:nvPr/>
        </p:nvSpPr>
        <p:spPr>
          <a:xfrm>
            <a:off x="7170426" y="3174687"/>
            <a:ext cx="942088" cy="944136"/>
          </a:xfrm>
          <a:prstGeom prst="ellipse">
            <a:avLst/>
          </a:prstGeom>
          <a:solidFill>
            <a:srgbClr val="F5F5F5"/>
          </a:solidFill>
          <a:ln w="12700" cap="flat">
            <a:noFill/>
            <a:miter lim="400000"/>
          </a:ln>
          <a:effectLst>
            <a:outerShdw blurRad="165100" dist="114300" dir="2700000" rotWithShape="0">
              <a:srgbClr val="000000">
                <a:alpha val="10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400">
                <a:solidFill>
                  <a:srgbClr val="70461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</p:txBody>
      </p:sp>
      <p:sp>
        <p:nvSpPr>
          <p:cNvPr id="504" name="Заголовок 1"/>
          <p:cNvSpPr txBox="1">
            <a:spLocks noGrp="1"/>
          </p:cNvSpPr>
          <p:nvPr>
            <p:ph type="title"/>
          </p:nvPr>
        </p:nvSpPr>
        <p:spPr>
          <a:xfrm>
            <a:off x="1163637" y="657225"/>
            <a:ext cx="9000002" cy="8924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23F48"/>
                </a:solidFill>
              </a:defRPr>
            </a:lvl1pPr>
          </a:lstStyle>
          <a:p>
            <a:r>
              <a:rPr lang="ru-RU" dirty="0"/>
              <a:t>Пробелы рынка</a:t>
            </a:r>
            <a:endParaRPr dirty="0"/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314085A0-99AE-2B4B-BEC2-77C58E1C4884}"/>
              </a:ext>
            </a:extLst>
          </p:cNvPr>
          <p:cNvSpPr txBox="1">
            <a:spLocks/>
          </p:cNvSpPr>
          <p:nvPr/>
        </p:nvSpPr>
        <p:spPr>
          <a:xfrm>
            <a:off x="5158506" y="1847118"/>
            <a:ext cx="2571957" cy="132460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Cap / Floor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API ставок с cap/floor — не найдено публично ни у одного банка выборки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46FCA60A-6E7C-524E-ACC8-F6A4299D4466}"/>
              </a:ext>
            </a:extLst>
          </p:cNvPr>
          <p:cNvSpPr txBox="1">
            <a:spLocks/>
          </p:cNvSpPr>
          <p:nvPr/>
        </p:nvSpPr>
        <p:spPr>
          <a:xfrm>
            <a:off x="9123627" y="1844104"/>
            <a:ext cx="2852575" cy="1332483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Brokerage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Публично: Т-Invest и Альфа PRO. У Сбера/ВТБ Invest API не найдено</a:t>
            </a:r>
            <a:b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</a:b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  <a:p>
            <a:pPr hangingPunct="1"/>
            <a:endParaRPr lang="en-US" sz="1200" dirty="0">
              <a:latin typeface="SB Sans Text Light" panose="020B0303040504020204" pitchFamily="34" charset="0"/>
              <a:cs typeface="SB Sans Text Light" panose="020B0303040504020204" pitchFamily="34" charset="0"/>
            </a:endParaRP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02F5CA50-13C5-8D42-BF29-BE03D301079F}"/>
              </a:ext>
            </a:extLst>
          </p:cNvPr>
          <p:cNvSpPr txBox="1">
            <a:spLocks/>
          </p:cNvSpPr>
          <p:nvPr/>
        </p:nvSpPr>
        <p:spPr>
          <a:xfrm>
            <a:off x="1096402" y="1844104"/>
            <a:ext cx="2601705" cy="1332483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Treasury FX</a:t>
            </a:r>
          </a:p>
          <a:p>
            <a:pPr hangingPunct="1"/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Self-serve Open API по SPOT/SWAP/FWD почти ни у кого — обычно терминал и договор</a:t>
            </a:r>
            <a:r>
              <a:rPr lang="en-US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66433B3B-BD7B-8042-871F-793756547F86}"/>
              </a:ext>
            </a:extLst>
          </p:cNvPr>
          <p:cNvSpPr txBox="1">
            <a:spLocks/>
          </p:cNvSpPr>
          <p:nvPr/>
        </p:nvSpPr>
        <p:spPr>
          <a:xfrm>
            <a:off x="2979905" y="4444871"/>
            <a:ext cx="2571957" cy="1823954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Закрытые H2H</a:t>
            </a:r>
            <a:b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</a:b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/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«Не найдено публично» не значит отсутствия закрытых интеграций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582295CE-A3DB-A941-920D-F6C1F94539B5}"/>
              </a:ext>
            </a:extLst>
          </p:cNvPr>
          <p:cNvSpPr txBox="1">
            <a:spLocks/>
          </p:cNvSpPr>
          <p:nvPr/>
        </p:nvSpPr>
        <p:spPr>
          <a:xfrm>
            <a:off x="7164159" y="4444870"/>
            <a:ext cx="2403544" cy="210324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2pPr>
            <a:lvl3pPr marL="1234438" marR="0" indent="-320038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516170"/>
                </a:solidFill>
                <a:uFillTx/>
                <a:latin typeface="SB Sans Text"/>
                <a:ea typeface="SB Sans Text"/>
                <a:cs typeface="SB Sans Text"/>
                <a:sym typeface="SB Sans Text"/>
              </a:defRPr>
            </a:lvl9pPr>
          </a:lstStyle>
          <a:p>
            <a:pPr marL="0" indent="0" hangingPunct="1">
              <a:buNone/>
            </a:pPr>
            <a:r>
              <a:rPr lang="ru-RU" sz="1400" b="1" dirty="0">
                <a:solidFill>
                  <a:srgbClr val="339189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Open Banking</a:t>
            </a:r>
          </a:p>
          <a:p>
            <a:pPr>
              <a:lnSpc>
                <a:spcPct val="100000"/>
              </a:lnSpc>
            </a:pPr>
            <a:r>
              <a:rPr lang="ru-RU" sz="1200" dirty="0" err="1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Пилоты АФТ/ЦБ у ПСБ, МКБ, ДОМ.РФ — пока не полноценный portal</a:t>
            </a: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br>
              <a:rPr lang="en-US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</a:b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r>
              <a:rPr lang="ru-RU" sz="1200" dirty="0" err="1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/>
            </a:r>
            <a:endParaRPr lang="ru-RU" sz="1200" dirty="0">
              <a:solidFill>
                <a:srgbClr val="333F48"/>
              </a:solidFill>
              <a:latin typeface="SB Sans Text Light" panose="020B0303040504020204" pitchFamily="34" charset="0"/>
              <a:cs typeface="SB Sans Text Light" panose="020B0303040504020204" pitchFamily="34" charset="0"/>
            </a:endParaRPr>
          </a:p>
        </p:txBody>
      </p:sp>
      <p:pic>
        <p:nvPicPr>
          <p:cNvPr id="19" name="Рисунок 86" descr="Рисунок 86">
            <a:extLst>
              <a:ext uri="{FF2B5EF4-FFF2-40B4-BE49-F238E27FC236}">
                <a16:creationId xmlns:a16="http://schemas.microsoft.com/office/drawing/2014/main" id="{4FD19A20-0B53-8C4F-96BA-7233D241F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675" y="3461889"/>
            <a:ext cx="363645" cy="337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Рисунок 92" descr="Рисунок 92">
            <a:extLst>
              <a:ext uri="{FF2B5EF4-FFF2-40B4-BE49-F238E27FC236}">
                <a16:creationId xmlns:a16="http://schemas.microsoft.com/office/drawing/2014/main" id="{FC9626C2-68EA-DD4F-A0C3-82880B3D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94" y="3485181"/>
            <a:ext cx="358078" cy="3598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CA1A851-5C2D-CC45-A8F5-72268B7FA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40" y="3410877"/>
            <a:ext cx="361024" cy="44343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1DCBF2E-CC33-B945-9712-0917D95BB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26" y="3444840"/>
            <a:ext cx="381429" cy="3795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DC9B6AA-917D-8942-A80E-C5B2EB73F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931" y="3485180"/>
            <a:ext cx="369127" cy="369127"/>
          </a:xfrm>
          <a:prstGeom prst="rect">
            <a:avLst/>
          </a:prstGeom>
        </p:spPr>
      </p:pic>
      <p:sp>
        <p:nvSpPr>
          <p:cNvPr id="24" name="Номер слайда">
            <a:extLst>
              <a:ext uri="{FF2B5EF4-FFF2-40B4-BE49-F238E27FC236}">
                <a16:creationId xmlns:a16="http://schemas.microsoft.com/office/drawing/2014/main" id="{29504947-B1F2-1546-8E6C-E09ABDF68F0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485372" y="6408409"/>
            <a:ext cx="325375" cy="1397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900"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BFBA56-A4BD-C442-82E8-661DF63B46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989" y="0"/>
            <a:ext cx="11542011" cy="6858000"/>
          </a:xfrm>
          <a:prstGeom prst="rect">
            <a:avLst/>
          </a:prstGeom>
        </p:spPr>
      </p:pic>
      <p:sp>
        <p:nvSpPr>
          <p:cNvPr id="7" name="Прямоугольник">
            <a:extLst>
              <a:ext uri="{FF2B5EF4-FFF2-40B4-BE49-F238E27FC236}">
                <a16:creationId xmlns:a16="http://schemas.microsoft.com/office/drawing/2014/main" id="{FC3CDD8B-663C-4A46-9BAD-82CBEF94D6BA}"/>
              </a:ext>
            </a:extLst>
          </p:cNvPr>
          <p:cNvSpPr/>
          <p:nvPr/>
        </p:nvSpPr>
        <p:spPr>
          <a:xfrm>
            <a:off x="-1016029" y="-5088316"/>
            <a:ext cx="9469284" cy="16386932"/>
          </a:xfrm>
          <a:prstGeom prst="rect">
            <a:avLst/>
          </a:prstGeom>
          <a:gradFill>
            <a:gsLst>
              <a:gs pos="50843">
                <a:srgbClr val="FFFFFF"/>
              </a:gs>
              <a:gs pos="78055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path>
              <a:fillToRect l="-4239" t="49577" r="104239" b="50422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411" name="Заголовок 1"/>
          <p:cNvSpPr txBox="1"/>
          <p:nvPr/>
        </p:nvSpPr>
        <p:spPr>
          <a:xfrm>
            <a:off x="1163636" y="4717861"/>
            <a:ext cx="5504450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defRPr sz="40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  <a:sym typeface="SB Sans Display"/>
              </a:defRPr>
            </a:lvl1pPr>
          </a:lstStyle>
          <a:p>
            <a:r>
              <a:rPr dirty="0">
                <a:solidFill>
                  <a:srgbClr val="323F48"/>
                </a:solidFill>
              </a:rPr>
              <a:t>02. Выводы</a:t>
            </a:r>
            <a:r>
              <a:rPr dirty="0" err="1">
                <a:solidFill>
                  <a:srgbClr val="323F48"/>
                </a:solidFill>
              </a:rPr>
              <a:t/>
            </a:r>
            <a:endParaRPr dirty="0">
              <a:solidFill>
                <a:srgbClr val="323F48"/>
              </a:solidFill>
            </a:endParaRPr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9ADFBF93-A588-A44E-B0B2-C91B51F3F45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988" y="369715"/>
            <a:ext cx="1398333" cy="28751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4F83C-A2A2-1A4E-AD14-3C86D386941B}"/>
              </a:ext>
            </a:extLst>
          </p:cNvPr>
          <p:cNvSpPr txBox="1"/>
          <p:nvPr/>
        </p:nvSpPr>
        <p:spPr>
          <a:xfrm>
            <a:off x="1114340" y="5381682"/>
            <a:ext cx="4717692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Зрелые публичные API — у Т-Банка, Сбера и Альфы.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200" u="none" strike="noStrike" cap="none" spc="0" normalizeH="0" baseline="0" dirty="0">
                <a:ln>
                  <a:noFill/>
                </a:ln>
                <a:solidFill>
                  <a:srgbClr val="333F48"/>
                </a:solidFill>
                <a:effectLst/>
                <a:uFillTx/>
                <a:latin typeface="SB Sans Text Light" panose="020B0303040504020204" pitchFamily="34" charset="0"/>
                <a:cs typeface="SB Sans Text Light" panose="020B0303040504020204" pitchFamily="34" charset="0"/>
                <a:sym typeface="Helvetica"/>
              </a:rPr>
              <a:t>Казначейские продукты чаще через терминал/H2H,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dirty="0">
                <a:solidFill>
                  <a:srgbClr val="333F48"/>
                </a:solidFill>
                <a:latin typeface="SB Sans Text Light" panose="020B0303040504020204" pitchFamily="34" charset="0"/>
                <a:cs typeface="SB Sans Text Light" panose="020B0303040504020204" pitchFamily="34" charset="0"/>
              </a:rPr>
              <a:t>а не через открытый self-serve Open API.</a:t>
            </a:r>
            <a:endParaRPr kumimoji="0" lang="ru-RU" sz="1200" u="none" strike="noStrike" cap="none" spc="0" normalizeH="0" baseline="0" dirty="0">
              <a:ln>
                <a:noFill/>
              </a:ln>
              <a:solidFill>
                <a:srgbClr val="333F48"/>
              </a:solidFill>
              <a:effectLst/>
              <a:uFillTx/>
              <a:latin typeface="SB Sans Text Light" panose="020B0303040504020204" pitchFamily="34" charset="0"/>
              <a:cs typeface="SB Sans Text Light" panose="020B0303040504020204" pitchFamily="34" charset="0"/>
              <a:sym typeface="Helvet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FD0DC7-A0AA-8E46-A52B-B44F27D857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18219" y="0"/>
            <a:ext cx="8973782" cy="6879759"/>
          </a:xfrm>
          <a:prstGeom prst="rect">
            <a:avLst/>
          </a:prstGeom>
        </p:spPr>
      </p:pic>
      <p:sp>
        <p:nvSpPr>
          <p:cNvPr id="8" name="Прямоугольник">
            <a:extLst>
              <a:ext uri="{FF2B5EF4-FFF2-40B4-BE49-F238E27FC236}">
                <a16:creationId xmlns:a16="http://schemas.microsoft.com/office/drawing/2014/main" id="{38AF4049-ECF2-3C44-9AF4-FCFEAD35A479}"/>
              </a:ext>
            </a:extLst>
          </p:cNvPr>
          <p:cNvSpPr/>
          <p:nvPr/>
        </p:nvSpPr>
        <p:spPr>
          <a:xfrm>
            <a:off x="-1086567" y="-3420818"/>
            <a:ext cx="9469284" cy="15808703"/>
          </a:xfrm>
          <a:prstGeom prst="rect">
            <a:avLst/>
          </a:prstGeom>
          <a:gradFill>
            <a:gsLst>
              <a:gs pos="50843">
                <a:srgbClr val="FFFFFF"/>
              </a:gs>
              <a:gs pos="78055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path>
              <a:fillToRect l="-4239" t="49577" r="104239" b="50422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76" name="Text Placeholder 3"/>
          <p:cNvSpPr txBox="1"/>
          <p:nvPr/>
        </p:nvSpPr>
        <p:spPr>
          <a:xfrm>
            <a:off x="1708231" y="4782396"/>
            <a:ext cx="210650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359999">
              <a:defRPr sz="1400">
                <a:solidFill>
                  <a:srgbClr val="FFFFFF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t>08/10/2026</a:t>
            </a:r>
          </a:p>
        </p:txBody>
      </p:sp>
      <p:pic>
        <p:nvPicPr>
          <p:cNvPr id="378" name="Object 3" descr="Object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37" y="668326"/>
            <a:ext cx="1495481" cy="307484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Text Placeholder 3"/>
          <p:cNvSpPr txBox="1"/>
          <p:nvPr/>
        </p:nvSpPr>
        <p:spPr>
          <a:xfrm>
            <a:off x="1163637" y="5798021"/>
            <a:ext cx="496887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 defTabSz="359999">
              <a:defRPr sz="1400">
                <a:solidFill>
                  <a:srgbClr val="3F4851"/>
                </a:solidFill>
                <a:latin typeface="SB Sans Text Light"/>
                <a:ea typeface="SB Sans Text Light"/>
                <a:cs typeface="SB Sans Text Light"/>
                <a:sym typeface="SB Sans Text Light"/>
              </a:defRPr>
            </a:lvl1pPr>
          </a:lstStyle>
          <a:p>
            <a:r>
              <a:rPr lang="ru-RU" dirty="0"/>
              <a:t>Октябрь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781A54-7BEA-464D-BE1E-B3D62E989D7D}"/>
              </a:ext>
            </a:extLst>
          </p:cNvPr>
          <p:cNvSpPr txBox="1"/>
          <p:nvPr/>
        </p:nvSpPr>
        <p:spPr>
          <a:xfrm>
            <a:off x="1163637" y="2751319"/>
            <a:ext cx="5177421" cy="13388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000" dirty="0">
                <a:latin typeface="SB Sans Display Semibold" panose="020B0503040504020204" pitchFamily="34" charset="0"/>
                <a:cs typeface="SB Sans Display Semibold" panose="020B0503040504020204" pitchFamily="34" charset="0"/>
              </a:rPr>
              <a:t>Спасибо</a:t>
            </a:r>
          </a:p>
          <a:p>
            <a:pPr marL="0" marR="0" indent="0" algn="l" defTabSz="9144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0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Отчёт и преза —</a:t>
            </a:r>
          </a:p>
          <a:p>
            <a:pPr marL="0" marR="0" indent="0" algn="l" defTabSz="9144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0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в репозитории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1_Тема Office">
      <a:dk1>
        <a:srgbClr val="516170"/>
      </a:dk1>
      <a:lt1>
        <a:srgbClr val="70461F"/>
      </a:lt1>
      <a:dk2>
        <a:srgbClr val="A7A7A7"/>
      </a:dk2>
      <a:lt2>
        <a:srgbClr val="535353"/>
      </a:lt2>
      <a:accent1>
        <a:srgbClr val="00766C"/>
      </a:accent1>
      <a:accent2>
        <a:srgbClr val="20B598"/>
      </a:accent2>
      <a:accent3>
        <a:srgbClr val="107F8C"/>
      </a:accent3>
      <a:accent4>
        <a:srgbClr val="853A90"/>
      </a:accent4>
      <a:accent5>
        <a:srgbClr val="6163BB"/>
      </a:accent5>
      <a:accent6>
        <a:srgbClr val="386FAB"/>
      </a:accent6>
      <a:hlink>
        <a:srgbClr val="0000FF"/>
      </a:hlink>
      <a:folHlink>
        <a:srgbClr val="FF00FF"/>
      </a:folHlink>
    </a:clrScheme>
    <a:fontScheme name="1_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1617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1_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6C"/>
      </a:accent1>
      <a:accent2>
        <a:srgbClr val="20B598"/>
      </a:accent2>
      <a:accent3>
        <a:srgbClr val="107F8C"/>
      </a:accent3>
      <a:accent4>
        <a:srgbClr val="853A90"/>
      </a:accent4>
      <a:accent5>
        <a:srgbClr val="6163BB"/>
      </a:accent5>
      <a:accent6>
        <a:srgbClr val="386FAB"/>
      </a:accent6>
      <a:hlink>
        <a:srgbClr val="0000FF"/>
      </a:hlink>
      <a:folHlink>
        <a:srgbClr val="FF00FF"/>
      </a:folHlink>
    </a:clrScheme>
    <a:fontScheme name="1_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0461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1617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1617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70918</TotalTime>
  <Words>1196</Words>
  <Application>Microsoft Macintosh PowerPoint</Application>
  <PresentationFormat>Широкоэкранный</PresentationFormat>
  <Paragraphs>397</Paragraphs>
  <Slides>28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Arial</vt:lpstr>
      <vt:lpstr>Calibri</vt:lpstr>
      <vt:lpstr>Helvetica</vt:lpstr>
      <vt:lpstr>SB Sans Display</vt:lpstr>
      <vt:lpstr>SB Sans Display Light</vt:lpstr>
      <vt:lpstr>SB Sans Display Semibold</vt:lpstr>
      <vt:lpstr>SB Sans Text</vt:lpstr>
      <vt:lpstr>SB Sans Text Light</vt:lpstr>
      <vt:lpstr>SB Sans Text Semibold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Круговая диаграмма</vt:lpstr>
      <vt:lpstr>Презентация PowerPoint</vt:lpstr>
      <vt:lpstr>Круговая диаграмма</vt:lpstr>
      <vt:lpstr>Презентация PowerPoint</vt:lpstr>
      <vt:lpstr>И ещё один вид графиков</vt:lpstr>
      <vt:lpstr>Плюс ещё один вид</vt:lpstr>
      <vt:lpstr>Инфографика</vt:lpstr>
      <vt:lpstr>Инфографика</vt:lpstr>
      <vt:lpstr>Циклы</vt:lpstr>
      <vt:lpstr>Циклы</vt:lpstr>
      <vt:lpstr>Акценты конференции</vt:lpstr>
      <vt:lpstr>Имиджевые пиктограммы</vt:lpstr>
      <vt:lpstr>Имиджевые пиктограммы</vt:lpstr>
      <vt:lpstr>Фигуры / элементы целого</vt:lpstr>
      <vt:lpstr>Фигуры / элементы целого</vt:lpstr>
      <vt:lpstr>Таблица</vt:lpstr>
      <vt:lpstr>Финансовые продукты  (поддержка текущего бизнеса)</vt:lpstr>
      <vt:lpstr>Исследования</vt:lpstr>
      <vt:lpstr>Элементы схем</vt:lpstr>
      <vt:lpstr>Оформление диаграмм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256</cp:revision>
  <dcterms:modified xsi:type="dcterms:W3CDTF">2026-10-08T15:55:20Z</dcterms:modified>
</cp:coreProperties>
</file>