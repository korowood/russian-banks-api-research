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>
        <p15:guide id="2" pos="1867" userDrawn="1">
          <p15:clr>
            <a:srgbClr val="A4A3A4"/>
          </p15:clr>
        </p15:guide>
        <p15:guide id="3" pos="982" userDrawn="1">
          <p15:clr>
            <a:srgbClr val="A4A3A4"/>
          </p15:clr>
        </p15:guide>
        <p15:guide id="4" orient="horz" pos="2137" userDrawn="1">
          <p15:clr>
            <a:srgbClr val="A4A3A4"/>
          </p15:clr>
        </p15:guide>
        <p15:guide id="5" pos="1459" userDrawn="1">
          <p15:clr>
            <a:srgbClr val="A4A3A4"/>
          </p15:clr>
        </p15:guide>
        <p15:guide id="6" pos="3885" userDrawn="1">
          <p15:clr>
            <a:srgbClr val="A4A3A4"/>
          </p15:clr>
        </p15:guide>
        <p15:guide id="7" orient="horz" pos="2455" userDrawn="1">
          <p15:clr>
            <a:srgbClr val="A4A3A4"/>
          </p15:clr>
        </p15:guide>
        <p15:guide id="9" userDrawn="1">
          <p15:clr>
            <a:srgbClr val="A4A3A4"/>
          </p15:clr>
        </p15:guide>
        <p15:guide id="10" orient="horz" userDrawn="1">
          <p15:clr>
            <a:srgbClr val="A4A3A4"/>
          </p15:clr>
        </p15:guide>
        <p15:guide id="12" pos="7680" userDrawn="1">
          <p15:clr>
            <a:srgbClr val="A4A3A4"/>
          </p15:clr>
        </p15:guide>
        <p15:guide id="13" orient="horz" pos="4320" userDrawn="1">
          <p15:clr>
            <a:srgbClr val="A4A3A4"/>
          </p15:clr>
        </p15:guide>
        <p15:guide id="14" pos="4520" userDrawn="1">
          <p15:clr>
            <a:srgbClr val="A4A3A4"/>
          </p15:clr>
        </p15:guide>
        <p15:guide id="16" orient="horz" pos="3181" userDrawn="1">
          <p15:clr>
            <a:srgbClr val="A4A3A4"/>
          </p15:clr>
        </p15:guide>
        <p15:guide id="17" orient="horz" pos="3680" userDrawn="1">
          <p15:clr>
            <a:srgbClr val="A4A3A4"/>
          </p15:clr>
        </p15:guide>
        <p15:guide id="19" orient="horz" pos="1502" userDrawn="1">
          <p15:clr>
            <a:srgbClr val="A4A3A4"/>
          </p15:clr>
        </p15:guide>
        <p15:guide id="20" orient="horz" pos="327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  <a:srgbClr val="2A2A2A"/>
    <a:srgbClr val="339189"/>
    <a:srgbClr val="323E49"/>
    <a:srgbClr val="000000"/>
    <a:srgbClr val="333F48"/>
    <a:srgbClr val="3F4851"/>
    <a:srgbClr val="E2E3E9"/>
    <a:srgbClr val="02766C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chemeClr val="accent2"/>
              </a:solidFill>
              <a:prstDash val="solid"/>
              <a:round/>
            </a:ln>
          </a:top>
          <a:bottom>
            <a:ln w="12700" cap="flat">
              <a:solidFill>
                <a:schemeClr val="accent2"/>
              </a:solidFill>
              <a:prstDash val="solid"/>
              <a:round/>
            </a:ln>
          </a:bottom>
          <a:insideH>
            <a:ln w="12700" cap="flat">
              <a:solidFill>
                <a:schemeClr val="accent2"/>
              </a:solidFill>
              <a:prstDash val="solid"/>
              <a:round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F2EF"/>
          </a:solidFill>
        </a:fill>
      </a:tcStyle>
    </a:wholeTbl>
    <a:band2H>
      <a:tcTxStyle/>
      <a:tcStyle>
        <a:tcBdr/>
        <a:fill>
          <a:solidFill>
            <a:srgbClr val="70461F"/>
          </a:solidFill>
        </a:fill>
      </a:tcStyle>
    </a:band2H>
    <a:firstCol>
      <a:tcTxStyle b="on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chemeClr val="accent2"/>
              </a:solidFill>
              <a:prstDash val="solid"/>
              <a:round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chemeClr val="accent2"/>
              </a:solidFill>
              <a:prstDash val="solid"/>
              <a:round/>
            </a:ln>
          </a:top>
          <a:bottom>
            <a:ln w="12700" cap="flat">
              <a:solidFill>
                <a:schemeClr val="accent2"/>
              </a:solidFill>
              <a:prstDash val="solid"/>
              <a:round/>
            </a:ln>
          </a:bottom>
          <a:insideH>
            <a:ln w="12700" cap="flat">
              <a:solidFill>
                <a:schemeClr val="accent2"/>
              </a:solidFill>
              <a:prstDash val="solid"/>
              <a:round/>
            </a:ln>
          </a:insideH>
          <a:insideV>
            <a:ln w="12700" cap="flat">
              <a:solidFill>
                <a:schemeClr val="accent2"/>
              </a:solidFill>
              <a:prstDash val="solid"/>
              <a:round/>
            </a:ln>
          </a:insideV>
        </a:tcBdr>
        <a:fill>
          <a:solidFill>
            <a:srgbClr val="E7F2EF"/>
          </a:solidFill>
        </a:fill>
      </a:tcStyle>
    </a:firstCol>
    <a:lastRow>
      <a:tcTxStyle b="on" i="off">
        <a:fontRef idx="minor">
          <a:srgbClr val="516170"/>
        </a:fontRef>
        <a:srgbClr val="51617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chemeClr val="accent2"/>
              </a:solidFill>
              <a:prstDash val="solid"/>
              <a:round/>
            </a:ln>
          </a:top>
          <a:bottom>
            <a:ln w="12700" cap="flat">
              <a:solidFill>
                <a:schemeClr val="accent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0461F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chemeClr val="accent2"/>
              </a:solidFill>
              <a:prstDash val="solid"/>
              <a:round/>
            </a:ln>
          </a:top>
          <a:bottom>
            <a:ln w="12700" cap="flat">
              <a:solidFill>
                <a:schemeClr val="accent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CAD5D3"/>
          </a:solidFill>
        </a:fill>
      </a:tcStyle>
    </a:wholeTbl>
    <a:band2H>
      <a:tcTxStyle/>
      <a:tcStyle>
        <a:tcBdr/>
        <a:fill>
          <a:solidFill>
            <a:srgbClr val="E6EBEA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381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381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CAD7DA"/>
          </a:solidFill>
        </a:fill>
      </a:tcStyle>
    </a:wholeTbl>
    <a:band2H>
      <a:tcTxStyle/>
      <a:tcStyle>
        <a:tcBdr/>
        <a:fill>
          <a:solidFill>
            <a:srgbClr val="E6ECED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381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381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CCD4E2"/>
          </a:solidFill>
        </a:fill>
      </a:tcStyle>
    </a:wholeTbl>
    <a:band2H>
      <a:tcTxStyle/>
      <a:tcStyle>
        <a:tcBdr/>
        <a:fill>
          <a:solidFill>
            <a:srgbClr val="E7EBF1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381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381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8EAEB"/>
          </a:solidFill>
        </a:fill>
      </a:tcStyle>
    </a:wholeTbl>
    <a:band2H>
      <a:tcTxStyle/>
      <a:tcStyle>
        <a:tcBdr/>
        <a:fill>
          <a:solidFill>
            <a:srgbClr val="70461F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516170"/>
        </a:fontRef>
        <a:srgbClr val="51617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16170"/>
              </a:solidFill>
              <a:prstDash val="solid"/>
              <a:round/>
            </a:ln>
          </a:top>
          <a:bottom>
            <a:ln w="25400" cap="flat">
              <a:solidFill>
                <a:srgbClr val="51617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0461F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16170"/>
              </a:solidFill>
              <a:prstDash val="solid"/>
              <a:round/>
            </a:ln>
          </a:top>
          <a:bottom>
            <a:ln w="25400" cap="flat">
              <a:solidFill>
                <a:srgbClr val="51617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CFD1D4"/>
          </a:solidFill>
        </a:fill>
      </a:tcStyle>
    </a:wholeTbl>
    <a:band2H>
      <a:tcTxStyle/>
      <a:tcStyle>
        <a:tcBdr/>
        <a:fill>
          <a:solidFill>
            <a:srgbClr val="E8EAEB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516170"/>
          </a:solidFill>
        </a:fill>
      </a:tcStyle>
    </a:firstCol>
    <a:la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381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516170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381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51617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777"/>
    <p:restoredTop sz="96715"/>
  </p:normalViewPr>
  <p:slideViewPr>
    <p:cSldViewPr snapToGrid="0" snapToObjects="1" showGuides="1">
      <p:cViewPr varScale="1">
        <p:scale>
          <a:sx n="128" d="100"/>
          <a:sy n="128" d="100"/>
        </p:scale>
        <p:origin x="912" y="176"/>
      </p:cViewPr>
      <p:guideLst>
        <p:guide pos="1867"/>
        <p:guide pos="982"/>
        <p:guide orient="horz" pos="2137"/>
        <p:guide pos="1459"/>
        <p:guide pos="3885"/>
        <p:guide orient="horz" pos="2455"/>
        <p:guide/>
        <p:guide orient="horz"/>
        <p:guide pos="7680"/>
        <p:guide orient="horz" pos="4320"/>
        <p:guide pos="4520"/>
        <p:guide orient="horz" pos="3181"/>
        <p:guide orient="horz" pos="3680"/>
        <p:guide orient="horz" pos="1502"/>
        <p:guide orient="horz" pos="3271"/>
      </p:guideLst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09" d="100"/>
          <a:sy n="109" d="100"/>
        </p:scale>
        <p:origin x="4672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33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33" name="Shape 33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Обложка_5">
    <p:bg>
      <p:bgPr>
        <a:gradFill flip="none" rotWithShape="1">
          <a:gsLst>
            <a:gs pos="0">
              <a:srgbClr val="EEF3FF"/>
            </a:gs>
            <a:gs pos="95000">
              <a:srgbClr val="ECF1F5"/>
            </a:gs>
          </a:gsLst>
          <a:lin ang="16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Рисунок 9" descr="Рисунок 9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334" y="2058666"/>
            <a:ext cx="1744816" cy="696796"/>
          </a:xfrm>
          <a:prstGeom prst="rect">
            <a:avLst/>
          </a:prstGeom>
          <a:ln w="12700">
            <a:miter lim="400000"/>
          </a:ln>
        </p:spPr>
      </p:pic>
      <p:sp>
        <p:nvSpPr>
          <p:cNvPr id="62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621666" y="3028517"/>
            <a:ext cx="3546150" cy="8670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6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621667" y="4015273"/>
            <a:ext cx="2429500" cy="106053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SzTx/>
              <a:buFontTx/>
              <a:buNone/>
              <a:defRPr sz="1400">
                <a:solidFill>
                  <a:srgbClr val="3F4851"/>
                </a:solidFill>
              </a:defRPr>
            </a:lvl1pPr>
            <a:lvl2pPr marL="685800" indent="-228600">
              <a:buFontTx/>
              <a:defRPr sz="1400">
                <a:solidFill>
                  <a:srgbClr val="3F4851"/>
                </a:solidFill>
              </a:defRPr>
            </a:lvl2pPr>
            <a:lvl3pPr marL="1143000" indent="-228600">
              <a:buFontTx/>
              <a:defRPr sz="1400">
                <a:solidFill>
                  <a:srgbClr val="3F4851"/>
                </a:solidFill>
              </a:defRPr>
            </a:lvl3pPr>
            <a:lvl4pPr marL="1549400" indent="-177800">
              <a:buFontTx/>
              <a:defRPr sz="1400">
                <a:solidFill>
                  <a:srgbClr val="3F4851"/>
                </a:solidFill>
              </a:defRPr>
            </a:lvl4pPr>
            <a:lvl5pPr>
              <a:buFontTx/>
              <a:defRPr sz="1400">
                <a:solidFill>
                  <a:srgbClr val="3F4851"/>
                </a:solidFill>
              </a:defRPr>
            </a:lvl5pPr>
          </a:lstStyle>
          <a:p>
            <a:r>
              <a:t>Текст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8318501" y="6356350"/>
            <a:ext cx="419099" cy="231138"/>
          </a:xfrm>
          <a:prstGeom prst="rect">
            <a:avLst/>
          </a:prstGeom>
        </p:spPr>
        <p:txBody>
          <a:bodyPr lIns="45718" tIns="45718" rIns="45718" bIns="45718" anchor="t"/>
          <a:lstStyle>
            <a:lvl1pPr algn="r">
              <a:defRPr sz="900">
                <a:solidFill>
                  <a:srgbClr val="3F485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67C63F90-9076-C143-9FF6-0AF976FA4DE7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914CFD5B-FCE4-574A-8964-1C7E091A3AD9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7AA286-6630-1743-B7A3-0D72063999A7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88A5EC-AE2B-2148-AC1D-D8132235E456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4BCB28C4-BBA2-E349-94B7-711C2D902AE5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6442C1-9342-3D4B-BFAA-EC433DF5B987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B353067C-AE2F-8844-9656-8DA1F7571F2C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53A1C7-D750-7846-A751-B095F65CBA4D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20D6157B-EE42-6942-8FA9-DB1634ED0BA5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0B78A9-2445-B048-B28F-3C0D2731B4C7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AF65468C-DD77-1249-BB04-B8BE5B4EFE32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FA6B40-9A7E-C749-8348-5102A38F8F3E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C8828D7F-78A9-1B40-8AD4-00B8AE443A5C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BAFE76-BB18-FC49-9BAC-038C6813EF2A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контактами">
    <p:bg>
      <p:bgPr>
        <a:gradFill flip="none" rotWithShape="1">
          <a:gsLst>
            <a:gs pos="0">
              <a:srgbClr val="FFFFFF"/>
            </a:gs>
            <a:gs pos="100000">
              <a:srgbClr val="EEF3FF"/>
            </a:gs>
          </a:gsLst>
          <a:lin ang="18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Рисунок 18" descr="Рисунок 18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657225"/>
            <a:ext cx="1971270" cy="787229"/>
          </a:xfrm>
          <a:prstGeom prst="rect">
            <a:avLst/>
          </a:prstGeom>
          <a:ln w="12700">
            <a:miter lim="400000"/>
          </a:ln>
        </p:spPr>
      </p:pic>
      <p:sp>
        <p:nvSpPr>
          <p:cNvPr id="72" name="Прямая соединительная линия 17"/>
          <p:cNvSpPr/>
          <p:nvPr/>
        </p:nvSpPr>
        <p:spPr>
          <a:xfrm flipH="1">
            <a:off x="1163638" y="4044298"/>
            <a:ext cx="1655762" cy="1"/>
          </a:xfrm>
          <a:prstGeom prst="line">
            <a:avLst/>
          </a:prstGeom>
          <a:ln w="38100">
            <a:solidFill>
              <a:schemeClr val="accent1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73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3169784"/>
            <a:ext cx="8994972" cy="51843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4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7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63637" y="4315897"/>
            <a:ext cx="2429502" cy="10605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SzTx/>
              <a:buFontTx/>
              <a:buNone/>
              <a:defRPr sz="1400">
                <a:solidFill>
                  <a:srgbClr val="3F4851"/>
                </a:solidFill>
              </a:defRPr>
            </a:lvl1pPr>
            <a:lvl2pPr marL="685800" indent="-228600">
              <a:buFontTx/>
              <a:defRPr sz="1400">
                <a:solidFill>
                  <a:srgbClr val="3F4851"/>
                </a:solidFill>
              </a:defRPr>
            </a:lvl2pPr>
            <a:lvl3pPr marL="1143000" indent="-228600">
              <a:buFontTx/>
              <a:defRPr sz="1400">
                <a:solidFill>
                  <a:srgbClr val="3F4851"/>
                </a:solidFill>
              </a:defRPr>
            </a:lvl3pPr>
            <a:lvl4pPr marL="1549400" indent="-177800">
              <a:buFontTx/>
              <a:defRPr sz="1400">
                <a:solidFill>
                  <a:srgbClr val="3F4851"/>
                </a:solidFill>
              </a:defRPr>
            </a:lvl4pPr>
            <a:lvl5pPr>
              <a:buFontTx/>
              <a:defRPr sz="1400">
                <a:solidFill>
                  <a:srgbClr val="3F4851"/>
                </a:solidFill>
              </a:defRPr>
            </a:lvl5pPr>
          </a:lstStyle>
          <a:p>
            <a:r>
              <a:t>Текст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8318501" y="6356350"/>
            <a:ext cx="419099" cy="231138"/>
          </a:xfrm>
          <a:prstGeom prst="rect">
            <a:avLst/>
          </a:prstGeom>
        </p:spPr>
        <p:txBody>
          <a:bodyPr lIns="45718" tIns="45718" rIns="45718" bIns="45718" anchor="t"/>
          <a:lstStyle>
            <a:lvl1pPr algn="r">
              <a:defRPr sz="900">
                <a:solidFill>
                  <a:srgbClr val="3F485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4B4BA5B4-A1D1-B84C-B64E-98F59F4F3E83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07267F22-88A4-1548-AA20-450CEFA09E94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78293D-ABE7-2A47-9EE6-70BD05191317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3C4A65-ED85-2443-9D67-13116A5F8B9B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5B825E38-7DEC-C344-A0B0-5D7DBDD8380F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1055BF-9283-294F-8AF4-BB354D99AB93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7BB0CC4D-79A6-994B-B376-98D2D2A4DCE9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D73596-6CE1-0647-AAEB-4F611D99F08A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228014E3-6687-2D48-81E8-8A61D2E3F922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73D875-B431-6A49-BCA8-F3F307AB4631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6E5D651E-9BE7-FF4B-A4F5-83DB8332C737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048EE0-2245-F845-B1D3-18F1DD9F86C3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BD7536CE-298A-B04D-B528-35CE092B87EB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566E8C-CC84-854D-AB12-B7F72037EBF6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пустой_светлы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171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19" name="Номер слайда">
            <a:extLst>
              <a:ext uri="{FF2B5EF4-FFF2-40B4-BE49-F238E27FC236}">
                <a16:creationId xmlns:a16="http://schemas.microsoft.com/office/drawing/2014/main" id="{0F57866A-218D-414E-BBD5-9F368D11790D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Слайд пустой_светлый">
    <p:bg>
      <p:bgPr>
        <a:gradFill>
          <a:gsLst>
            <a:gs pos="65000">
              <a:srgbClr val="D6D4D4"/>
            </a:gs>
            <a:gs pos="100000">
              <a:srgbClr val="FFFFFF"/>
            </a:gs>
          </a:gsLst>
          <a:lin ang="18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17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529445" y="6385277"/>
            <a:ext cx="411972" cy="18466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Овал 1">
            <a:extLst>
              <a:ext uri="{FF2B5EF4-FFF2-40B4-BE49-F238E27FC236}">
                <a16:creationId xmlns:a16="http://schemas.microsoft.com/office/drawing/2014/main" id="{F373E55E-305F-2C4B-B1A1-232E3A471614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24F1D7A5-AAD1-2B4F-99CA-F9596EF90C7A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3C0D9-366A-D745-80E0-E0301A67AC80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780DE-BE84-EA49-9539-815A93F4DFAA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F58EAAA0-B04E-4A47-8748-24DEE449B8B7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7968A2-26D2-8F49-8D4A-FA828122E175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1CFA7B3-1F78-B642-B372-0C83DBA02776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FF3554-37D0-664E-8A53-A7FDCEBF6EE2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A44D9180-6A23-9F45-8736-07A7FA52DDAD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050E21-9A3D-8543-B8AE-BB117DDB6331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C402312B-04D0-2A46-B647-79085DF0F21E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C13ABC-D81F-B243-A90B-60089CF62B7B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pic>
        <p:nvPicPr>
          <p:cNvPr id="18" name="Object 3" descr="Object 3">
            <a:extLst>
              <a:ext uri="{FF2B5EF4-FFF2-40B4-BE49-F238E27FC236}">
                <a16:creationId xmlns:a16="http://schemas.microsoft.com/office/drawing/2014/main" id="{C5F656C3-AD6E-5F41-A8A2-2C4E9FE33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Овал 16">
            <a:extLst>
              <a:ext uri="{FF2B5EF4-FFF2-40B4-BE49-F238E27FC236}">
                <a16:creationId xmlns:a16="http://schemas.microsoft.com/office/drawing/2014/main" id="{D3B812F5-3CD6-954A-897A-9E11E795D5C5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F6345F-B4E4-AD49-99DD-C6D958D13FA6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93002723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Слайд пустой_светлы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Номер слайда">
            <a:extLst>
              <a:ext uri="{FF2B5EF4-FFF2-40B4-BE49-F238E27FC236}">
                <a16:creationId xmlns:a16="http://schemas.microsoft.com/office/drawing/2014/main" id="{9D20C3BB-980F-1749-896A-947816E25FDB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графиком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21" name="Номер слайда">
            <a:extLst>
              <a:ext uri="{FF2B5EF4-FFF2-40B4-BE49-F238E27FC236}">
                <a16:creationId xmlns:a16="http://schemas.microsoft.com/office/drawing/2014/main" id="{6D9072BA-D3B9-A54F-A62C-3DC12A10C06C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белыми плашками">
    <p:bg>
      <p:bgPr>
        <a:solidFill>
          <a:srgbClr val="EE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pic>
        <p:nvPicPr>
          <p:cNvPr id="197" name="Object 2" descr="Object 2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1496288"/>
            <a:ext cx="2337562" cy="4453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8" name="Object 3" descr="Object 3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2692" y="1496288"/>
            <a:ext cx="2337563" cy="4453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9" name="Object 4" descr="Object 4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1747" y="1496288"/>
            <a:ext cx="2337563" cy="4453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0" name="Object 5" descr="Object 5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0802" y="1496288"/>
            <a:ext cx="2337563" cy="4453663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390562" y="3419604"/>
            <a:ext cx="1916310" cy="192773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92598" indent="-192598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buChar char="▪"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  <a:lvl2pPr marL="571500" indent="-11430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2pPr>
            <a:lvl3pPr marL="1051560" indent="-13716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3pPr>
            <a:lvl4pPr marL="1524000" indent="-15240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4pPr>
            <a:lvl5pPr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02" name="Текст 7"/>
          <p:cNvSpPr>
            <a:spLocks noGrp="1"/>
          </p:cNvSpPr>
          <p:nvPr>
            <p:ph type="body" sz="quarter" idx="21"/>
          </p:nvPr>
        </p:nvSpPr>
        <p:spPr>
          <a:xfrm>
            <a:off x="3897855" y="3419604"/>
            <a:ext cx="1916312" cy="1927733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03" name="Текст 7"/>
          <p:cNvSpPr>
            <a:spLocks noGrp="1"/>
          </p:cNvSpPr>
          <p:nvPr>
            <p:ph type="body" sz="quarter" idx="22"/>
          </p:nvPr>
        </p:nvSpPr>
        <p:spPr>
          <a:xfrm>
            <a:off x="6405148" y="3419604"/>
            <a:ext cx="1916312" cy="1927733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04" name="Текст 7"/>
          <p:cNvSpPr>
            <a:spLocks noGrp="1"/>
          </p:cNvSpPr>
          <p:nvPr>
            <p:ph type="body" sz="quarter" idx="23"/>
          </p:nvPr>
        </p:nvSpPr>
        <p:spPr>
          <a:xfrm>
            <a:off x="8912441" y="3419604"/>
            <a:ext cx="1916312" cy="1927733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05" name="Picture Placeholder 19"/>
          <p:cNvSpPr>
            <a:spLocks noGrp="1"/>
          </p:cNvSpPr>
          <p:nvPr>
            <p:ph type="pic" sz="quarter" idx="24"/>
          </p:nvPr>
        </p:nvSpPr>
        <p:spPr>
          <a:xfrm>
            <a:off x="1603502" y="1916759"/>
            <a:ext cx="657446" cy="65744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06" name="Picture Placeholder 19"/>
          <p:cNvSpPr>
            <a:spLocks noGrp="1"/>
          </p:cNvSpPr>
          <p:nvPr>
            <p:ph type="pic" sz="quarter" idx="25"/>
          </p:nvPr>
        </p:nvSpPr>
        <p:spPr>
          <a:xfrm>
            <a:off x="4110797" y="1916759"/>
            <a:ext cx="657446" cy="65744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07" name="Picture Placeholder 19"/>
          <p:cNvSpPr>
            <a:spLocks noGrp="1"/>
          </p:cNvSpPr>
          <p:nvPr>
            <p:ph type="pic" sz="quarter" idx="26"/>
          </p:nvPr>
        </p:nvSpPr>
        <p:spPr>
          <a:xfrm>
            <a:off x="6618089" y="1916759"/>
            <a:ext cx="657446" cy="65744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08" name="Picture Placeholder 19"/>
          <p:cNvSpPr>
            <a:spLocks noGrp="1"/>
          </p:cNvSpPr>
          <p:nvPr>
            <p:ph type="pic" sz="quarter" idx="27"/>
          </p:nvPr>
        </p:nvSpPr>
        <p:spPr>
          <a:xfrm>
            <a:off x="9125383" y="1916759"/>
            <a:ext cx="657446" cy="65744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09" name="Текст 7"/>
          <p:cNvSpPr>
            <a:spLocks noGrp="1"/>
          </p:cNvSpPr>
          <p:nvPr>
            <p:ph type="body" sz="quarter" idx="28"/>
          </p:nvPr>
        </p:nvSpPr>
        <p:spPr>
          <a:xfrm>
            <a:off x="1390562" y="2794442"/>
            <a:ext cx="1776436" cy="5374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10" name="Текст 7"/>
          <p:cNvSpPr>
            <a:spLocks noGrp="1"/>
          </p:cNvSpPr>
          <p:nvPr>
            <p:ph type="body" sz="quarter" idx="29"/>
          </p:nvPr>
        </p:nvSpPr>
        <p:spPr>
          <a:xfrm>
            <a:off x="3897855" y="2794442"/>
            <a:ext cx="1776437" cy="5374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11" name="Текст 7"/>
          <p:cNvSpPr>
            <a:spLocks noGrp="1"/>
          </p:cNvSpPr>
          <p:nvPr>
            <p:ph type="body" sz="quarter" idx="30"/>
          </p:nvPr>
        </p:nvSpPr>
        <p:spPr>
          <a:xfrm>
            <a:off x="6405148" y="2794442"/>
            <a:ext cx="1776437" cy="5374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12" name="Текст 7"/>
          <p:cNvSpPr>
            <a:spLocks noGrp="1"/>
          </p:cNvSpPr>
          <p:nvPr>
            <p:ph type="body" sz="quarter" idx="31"/>
          </p:nvPr>
        </p:nvSpPr>
        <p:spPr>
          <a:xfrm>
            <a:off x="8912441" y="2794442"/>
            <a:ext cx="1776437" cy="5374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304F5BE5-1C1D-3B4F-924C-E22D693677D4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C88AB9F9-39A2-9A4D-B56F-E3991F8D65A9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C5B27E-447F-AE4C-B4A7-C923D2201088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4EDCB3-3C4D-A34E-A54E-C321F303092C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3B2B3C84-8638-1E4F-8779-AFE7AFEC629D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2F94C7-61A3-B146-A5FF-0C834F43DDDA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7" name="Овал 26">
            <a:extLst>
              <a:ext uri="{FF2B5EF4-FFF2-40B4-BE49-F238E27FC236}">
                <a16:creationId xmlns:a16="http://schemas.microsoft.com/office/drawing/2014/main" id="{F0AEF913-B6A7-AD41-83FA-B9029DC10994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69A4735-ED2A-1940-A68F-DD819DA8D64F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501063FB-9268-2749-9C48-D46B7ED2A422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D25E32-5DB9-5E4F-8BE5-56F5949670CD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610BC0CF-21BF-B84D-8104-56778BFB0A7B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DD6D2E-3006-CA4E-92A9-6286561C803F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33" name="Овал 32">
            <a:extLst>
              <a:ext uri="{FF2B5EF4-FFF2-40B4-BE49-F238E27FC236}">
                <a16:creationId xmlns:a16="http://schemas.microsoft.com/office/drawing/2014/main" id="{90E2DC0F-04D5-164B-BA0C-FFB47187B85D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632C71-988D-094F-84E4-7CA393DBA7B0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35" name="Номер слайда">
            <a:extLst>
              <a:ext uri="{FF2B5EF4-FFF2-40B4-BE49-F238E27FC236}">
                <a16:creationId xmlns:a16="http://schemas.microsoft.com/office/drawing/2014/main" id="{1BDE2F76-46DB-C447-9FC0-9803AC8B1885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графиком и текстом">
    <p:bg>
      <p:bgPr>
        <a:solidFill>
          <a:srgbClr val="EE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Прямоугольник 1"/>
          <p:cNvSpPr/>
          <p:nvPr/>
        </p:nvSpPr>
        <p:spPr>
          <a:xfrm>
            <a:off x="-3" y="0"/>
            <a:ext cx="5724399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AFB3C0"/>
                </a:solidFill>
                <a:latin typeface="SB Sans Text"/>
                <a:ea typeface="SB Sans Text"/>
                <a:cs typeface="SB Sans Text"/>
                <a:sym typeface="SB Sans Text"/>
              </a:defRPr>
            </a:pPr>
            <a:endParaRPr/>
          </a:p>
        </p:txBody>
      </p:sp>
      <p:pic>
        <p:nvPicPr>
          <p:cNvPr id="221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222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4009614" cy="92105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22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63637" y="1653437"/>
            <a:ext cx="3946984" cy="253025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FontTx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FontTx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3pPr>
            <a:lvl4pPr marL="1549400" indent="-177800">
              <a:lnSpc>
                <a:spcPct val="100000"/>
              </a:lnSpc>
              <a:spcBef>
                <a:spcPts val="0"/>
              </a:spcBef>
              <a:buFontTx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4pPr>
            <a:lvl5pPr>
              <a:lnSpc>
                <a:spcPct val="100000"/>
              </a:lnSpc>
              <a:spcBef>
                <a:spcPts val="0"/>
              </a:spcBef>
              <a:buFontTx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5pPr>
          </a:lstStyle>
          <a:p>
            <a:r>
              <a:t>Текст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CC9800BA-B156-004C-A0FE-0718CD8766B4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460BCFC1-F573-424F-88D4-A7CB49A16E21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F81E7A-719F-204D-9F73-6BA286602D3D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38A91D-2D29-DB49-AA85-140698862892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7F2E4185-8960-1B4F-AC32-BA0A6E119EF5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BEF821-794C-6040-BC62-201296AA33A0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F12860CA-AB1F-B941-AC64-1C32A2108871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7EE979-8CA3-6540-8492-46D17DD7A2D1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1FBA0660-4211-DD4B-8B66-C3F4AB3E429F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10D3CF-DE8F-0647-A4A6-AAAF9516229A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59E0590-75F4-034A-9969-176B14B4F896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7D9A6B-5FD8-9C4E-996D-327F10EC3F94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46FBD1F7-359A-F244-A862-1CBFC99E5879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8044AE-3EBB-F84D-A31E-186F31D223C0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1" name="Номер слайда">
            <a:extLst>
              <a:ext uri="{FF2B5EF4-FFF2-40B4-BE49-F238E27FC236}">
                <a16:creationId xmlns:a16="http://schemas.microsoft.com/office/drawing/2014/main" id="{03D138E3-5175-254D-B6AE-AB2718FE5CEA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Слайд с графиком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269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pic>
        <p:nvPicPr>
          <p:cNvPr id="270" name="Object 2" descr="Object 2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1496289"/>
            <a:ext cx="2337562" cy="4453661"/>
          </a:xfrm>
          <a:prstGeom prst="rect">
            <a:avLst/>
          </a:prstGeom>
          <a:ln w="12700">
            <a:miter lim="400000"/>
          </a:ln>
          <a:effectLst>
            <a:outerShdw blurRad="330200" dist="133609" dir="2520000" sx="98975" sy="98975" algn="ctr" rotWithShape="0">
              <a:srgbClr val="000000">
                <a:alpha val="16690"/>
              </a:srgbClr>
            </a:outerShdw>
          </a:effectLst>
        </p:spPr>
      </p:pic>
      <p:pic>
        <p:nvPicPr>
          <p:cNvPr id="271" name="Object 3" descr="Object 3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2692" y="1496289"/>
            <a:ext cx="2337562" cy="4453661"/>
          </a:xfrm>
          <a:prstGeom prst="rect">
            <a:avLst/>
          </a:prstGeom>
          <a:ln w="12700">
            <a:miter lim="400000"/>
          </a:ln>
          <a:effectLst>
            <a:outerShdw blurRad="330200" dist="133609" dir="2520000" sx="98975" sy="98975" algn="ctr" rotWithShape="0">
              <a:srgbClr val="000000">
                <a:alpha val="16690"/>
              </a:srgbClr>
            </a:outerShdw>
          </a:effectLst>
        </p:spPr>
      </p:pic>
      <p:pic>
        <p:nvPicPr>
          <p:cNvPr id="272" name="Object 4" descr="Object 4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1747" y="1496289"/>
            <a:ext cx="2337562" cy="4453661"/>
          </a:xfrm>
          <a:prstGeom prst="rect">
            <a:avLst/>
          </a:prstGeom>
          <a:ln w="12700">
            <a:miter lim="400000"/>
          </a:ln>
          <a:effectLst>
            <a:outerShdw blurRad="330200" dist="133609" dir="2520000" sx="98975" sy="98975" algn="ctr" rotWithShape="0">
              <a:srgbClr val="000000">
                <a:alpha val="16690"/>
              </a:srgbClr>
            </a:outerShdw>
          </a:effectLst>
        </p:spPr>
      </p:pic>
      <p:pic>
        <p:nvPicPr>
          <p:cNvPr id="273" name="Object 5" descr="Object 5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0802" y="1496289"/>
            <a:ext cx="2337562" cy="4453661"/>
          </a:xfrm>
          <a:prstGeom prst="rect">
            <a:avLst/>
          </a:prstGeom>
          <a:ln w="12700">
            <a:miter lim="400000"/>
          </a:ln>
          <a:effectLst>
            <a:outerShdw blurRad="330200" dist="133609" dir="2520000" sx="98975" sy="98975" algn="ctr" rotWithShape="0">
              <a:srgbClr val="000000">
                <a:alpha val="16690"/>
              </a:srgbClr>
            </a:outerShdw>
          </a:effectLst>
        </p:spPr>
      </p:pic>
      <p:sp>
        <p:nvSpPr>
          <p:cNvPr id="23" name="Номер слайда">
            <a:extLst>
              <a:ext uri="{FF2B5EF4-FFF2-40B4-BE49-F238E27FC236}">
                <a16:creationId xmlns:a16="http://schemas.microsoft.com/office/drawing/2014/main" id="{51F378B7-B95A-CC4D-9E68-BF87452B6E60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графиком_f5f5f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Рисунок 6" descr="Рисунок 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366" y="1433630"/>
            <a:ext cx="7422865" cy="4401685"/>
          </a:xfrm>
          <a:prstGeom prst="rect">
            <a:avLst/>
          </a:prstGeom>
          <a:ln w="12700">
            <a:miter lim="400000"/>
          </a:ln>
        </p:spPr>
      </p:pic>
      <p:sp>
        <p:nvSpPr>
          <p:cNvPr id="32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Текст заголовка</a:t>
            </a:r>
          </a:p>
        </p:txBody>
      </p:sp>
      <p:sp>
        <p:nvSpPr>
          <p:cNvPr id="3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029697" y="2286825"/>
            <a:ext cx="1998666" cy="32066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spcBef>
                <a:spcPts val="1200"/>
              </a:spcBef>
              <a:buSzTx/>
              <a:buFontTx/>
              <a:buNone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  <a:lvl2pPr marL="590550" indent="-133350">
              <a:spcBef>
                <a:spcPts val="1200"/>
              </a:spcBef>
              <a:buFontTx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2pPr>
            <a:lvl3pPr marL="1074419" indent="-160019">
              <a:spcBef>
                <a:spcPts val="1200"/>
              </a:spcBef>
              <a:buFontTx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3pPr>
            <a:lvl4pPr marL="1549400" indent="-177800">
              <a:spcBef>
                <a:spcPts val="1200"/>
              </a:spcBef>
              <a:buFontTx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4pPr>
            <a:lvl5pPr>
              <a:spcBef>
                <a:spcPts val="1200"/>
              </a:spcBef>
              <a:buFontTx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5pPr>
          </a:lstStyle>
          <a:p>
            <a:r>
              <a:t>Edit Master text styles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25" name="Text Placeholder 9"/>
          <p:cNvSpPr>
            <a:spLocks noGrp="1"/>
          </p:cNvSpPr>
          <p:nvPr>
            <p:ph type="body" sz="quarter" idx="21" hasCustomPrompt="1"/>
          </p:nvPr>
        </p:nvSpPr>
        <p:spPr>
          <a:xfrm>
            <a:off x="9029700" y="1619817"/>
            <a:ext cx="1998665" cy="4446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323E48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t>Edit Master text</a:t>
            </a:r>
          </a:p>
        </p:txBody>
      </p:sp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73152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AE047F20-50F9-3E4E-B385-C00FCBCA83E2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F51E8D7B-D74A-0C4C-B9EE-23F0A69893CD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649443-4648-CA4E-A3E5-A2AB9766C457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D91D95-39F8-6F40-AAC6-9031CE9B8351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E1400E7-38A5-F04D-9270-FD3E4D610156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724151-2CB6-D34F-A8D0-7F76D565E4C5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2241C6C7-94E1-664C-ABCF-4DC3CDE3527C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BB850B-4DF5-EA40-BEBB-374F162BF245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C8FD1CA5-C92A-364C-9017-8EF01C42B742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44DDC3-BCED-E242-A751-24C3D77F220A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EDDE37EE-8BEB-BA4F-9342-8E3A9B476967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A56E66-7747-1C4C-A6E2-66E11DC46BE6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85098B96-A4A9-D740-9109-F5E752E3475F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A7536C-8BC5-A34E-8147-26C097CA609E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EBFFFD"/>
            </a:gs>
            <a:gs pos="74000">
              <a:srgbClr val="4FFFF0"/>
            </a:gs>
            <a:gs pos="83000">
              <a:srgbClr val="4FFFF0"/>
            </a:gs>
            <a:gs pos="100000">
              <a:srgbClr val="89FFF5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Object 2"/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1496289"/>
            <a:ext cx="2337562" cy="4453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Object 3" descr="Object 3"/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2692" y="1496289"/>
            <a:ext cx="2337562" cy="4453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Object 4" descr="Object 4"/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1747" y="1496289"/>
            <a:ext cx="2337562" cy="4453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Object 5" descr="Object 5"/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0802" y="1496289"/>
            <a:ext cx="2337562" cy="4453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6" name="Object 3" descr="Object 3"/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r>
              <a:t>Текст заголовка</a:t>
            </a:r>
          </a:p>
        </p:txBody>
      </p:sp>
      <p:sp>
        <p:nvSpPr>
          <p:cNvPr id="8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9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548740" y="6382360"/>
            <a:ext cx="373381" cy="1905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indent="177800" algn="ctr" defTabSz="359999">
              <a:tabLst>
                <a:tab pos="177800" algn="l"/>
              </a:tabLst>
              <a:defRPr sz="1200">
                <a:solidFill>
                  <a:srgbClr val="333F48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BF75CC64-8DFB-5F4D-9CB7-124B9A05C311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6258A071-5640-DE48-8C21-3F26A238CCEA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3FB761-3B28-AC42-9C59-6A45E006D18B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3C36F0-A888-CF4B-86DA-179875B3377F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72384853-D502-2D47-8165-D34EFCDA928C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4E4B3F-2FBC-1846-BE25-E8315A93CC55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EBEDD485-319E-294F-BEA3-EFA98949E7B2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69E483-73A0-FC47-85B2-33F34933C33C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7D43AC27-D524-9643-B00E-B50798967D16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C43376-E40D-D744-9910-869FF6248799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859FCE79-0CB4-EB41-A0F6-C8D09CA20C24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8058DA-F40C-0042-AA21-424DEBB3D805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61" r:id="rId3"/>
    <p:sldLayoutId id="2147483675" r:id="rId4"/>
    <p:sldLayoutId id="2147483662" r:id="rId5"/>
    <p:sldLayoutId id="2147483663" r:id="rId6"/>
    <p:sldLayoutId id="2147483664" r:id="rId7"/>
    <p:sldLayoutId id="2147483665" r:id="rId8"/>
    <p:sldLayoutId id="2147483669" r:id="rId9"/>
    <p:sldLayoutId id="2147483674" r:id="rId10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4pPr>
      <a:lvl5pPr marL="0" marR="0" indent="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9pPr>
    </p:bodyStyle>
    <p:otherStyle>
      <a:lvl1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1pPr>
      <a:lvl2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2pPr>
      <a:lvl3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3pPr>
      <a:lvl4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4pPr>
      <a:lvl5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5pPr>
      <a:lvl6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6pPr>
      <a:lvl7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7pPr>
      <a:lvl8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8pPr>
      <a:lvl9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200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600000" cy="6858000"/>
          </a:xfrm>
          <a:prstGeom prst="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0000" y="280000"/>
            <a:ext cx="1400000" cy="29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0000" y="2200000"/>
            <a:ext cx="45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Топ банков РФ
и их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4200000"/>
            <a:ext cx="4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Публичный ресерч · октябрь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5600000"/>
            <a:ext cx="4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Источники: сайты банков, ЦБ/АФТ, отчётность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1414"/>
                </a:solidFill>
                <a:latin typeface="Arial"/>
              </a:rPr>
              <a:t>Содержание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000" y="280000"/>
            <a:ext cx="1400000" cy="2900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163637" y="1600000"/>
            <a:ext cx="420000" cy="420000"/>
          </a:xfrm>
          <a:prstGeom prst="ellipse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3637" y="1670000"/>
            <a:ext cx="4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0000" y="1670000"/>
            <a:ext cx="7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Arial"/>
              </a:rPr>
              <a:t>Топ-10 банков по активам</a:t>
            </a:r>
          </a:p>
        </p:txBody>
      </p:sp>
      <p:sp>
        <p:nvSpPr>
          <p:cNvPr id="7" name="Oval 6"/>
          <p:cNvSpPr/>
          <p:nvPr/>
        </p:nvSpPr>
        <p:spPr>
          <a:xfrm>
            <a:off x="1163637" y="2250000"/>
            <a:ext cx="420000" cy="420000"/>
          </a:xfrm>
          <a:prstGeom prst="ellipse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3637" y="2320000"/>
            <a:ext cx="4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0000" y="2320000"/>
            <a:ext cx="7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Arial"/>
              </a:rPr>
              <a:t>Метрики лидеров</a:t>
            </a:r>
          </a:p>
        </p:txBody>
      </p:sp>
      <p:sp>
        <p:nvSpPr>
          <p:cNvPr id="10" name="Oval 9"/>
          <p:cNvSpPr/>
          <p:nvPr/>
        </p:nvSpPr>
        <p:spPr>
          <a:xfrm>
            <a:off x="1163637" y="2900000"/>
            <a:ext cx="420000" cy="420000"/>
          </a:xfrm>
          <a:prstGeom prst="ellipse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3637" y="2970000"/>
            <a:ext cx="4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0000" y="2970000"/>
            <a:ext cx="7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Arial"/>
              </a:rPr>
              <a:t>Категории API для проверки</a:t>
            </a:r>
          </a:p>
        </p:txBody>
      </p:sp>
      <p:sp>
        <p:nvSpPr>
          <p:cNvPr id="13" name="Oval 12"/>
          <p:cNvSpPr/>
          <p:nvPr/>
        </p:nvSpPr>
        <p:spPr>
          <a:xfrm>
            <a:off x="1163637" y="3550000"/>
            <a:ext cx="420000" cy="420000"/>
          </a:xfrm>
          <a:prstGeom prst="ellipse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3637" y="3620000"/>
            <a:ext cx="4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0000" y="3620000"/>
            <a:ext cx="7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Arial"/>
              </a:rPr>
              <a:t>Матрица банк × API</a:t>
            </a:r>
          </a:p>
        </p:txBody>
      </p:sp>
      <p:sp>
        <p:nvSpPr>
          <p:cNvPr id="16" name="Oval 15"/>
          <p:cNvSpPr/>
          <p:nvPr/>
        </p:nvSpPr>
        <p:spPr>
          <a:xfrm>
            <a:off x="1163637" y="4200000"/>
            <a:ext cx="420000" cy="420000"/>
          </a:xfrm>
          <a:prstGeom prst="ellipse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3637" y="4270000"/>
            <a:ext cx="4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0000" y="4270000"/>
            <a:ext cx="7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Arial"/>
              </a:rPr>
              <a:t>Лидеры по программному доступу</a:t>
            </a:r>
          </a:p>
        </p:txBody>
      </p:sp>
      <p:sp>
        <p:nvSpPr>
          <p:cNvPr id="19" name="Oval 18"/>
          <p:cNvSpPr/>
          <p:nvPr/>
        </p:nvSpPr>
        <p:spPr>
          <a:xfrm>
            <a:off x="1163637" y="4850000"/>
            <a:ext cx="420000" cy="420000"/>
          </a:xfrm>
          <a:prstGeom prst="ellipse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63637" y="4920000"/>
            <a:ext cx="4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0000" y="4920000"/>
            <a:ext cx="7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Arial"/>
              </a:rPr>
              <a:t>Пробелы: FX / brokerage / rates</a:t>
            </a:r>
          </a:p>
        </p:txBody>
      </p:sp>
      <p:sp>
        <p:nvSpPr>
          <p:cNvPr id="22" name="Oval 21"/>
          <p:cNvSpPr/>
          <p:nvPr/>
        </p:nvSpPr>
        <p:spPr>
          <a:xfrm>
            <a:off x="1163637" y="5500000"/>
            <a:ext cx="420000" cy="420000"/>
          </a:xfrm>
          <a:prstGeom prst="ellipse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63637" y="5570000"/>
            <a:ext cx="4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0000" y="5570000"/>
            <a:ext cx="7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Arial"/>
              </a:rPr>
              <a:t>Выводы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85372" y="6408409"/>
            <a:ext cx="325375" cy="13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1414"/>
                </a:solidFill>
                <a:latin typeface="Arial"/>
              </a:rPr>
              <a:t>Топ-10 банков РФ по активам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000" y="280000"/>
            <a:ext cx="1400000" cy="29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63637" y="1250000"/>
            <a:ext cx="9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РИА Рейтинг, 1.07.2026 · прибыль — МСФО/РСБУ 2025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63637" y="1650000"/>
          <a:ext cx="9800000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000"/>
                <a:gridCol w="2200000"/>
                <a:gridCol w="2200000"/>
                <a:gridCol w="2400000"/>
                <a:gridCol w="2300000"/>
              </a:tblGrid>
              <a:tr h="40909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21A0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Банк</a:t>
                      </a:r>
                    </a:p>
                  </a:txBody>
                  <a:tcPr anchor="ctr">
                    <a:solidFill>
                      <a:srgbClr val="21A0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Активы</a:t>
                      </a:r>
                    </a:p>
                  </a:txBody>
                  <a:tcPr anchor="ctr">
                    <a:solidFill>
                      <a:srgbClr val="21A0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Прибыль 2025</a:t>
                      </a:r>
                    </a:p>
                  </a:txBody>
                  <a:tcPr anchor="ctr">
                    <a:solidFill>
                      <a:srgbClr val="21A0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Клиенты</a:t>
                      </a:r>
                    </a:p>
                  </a:txBody>
                  <a:tcPr anchor="ctr">
                    <a:solidFill>
                      <a:srgbClr val="21A038"/>
                    </a:solidFill>
                  </a:tcPr>
                </a:tc>
              </a:tr>
              <a:tr h="40909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1414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Сбербанк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66,2 трлн 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1 694 млрд 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110,7 млн розн.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909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1414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ВТБ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36,4 трлн ₽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502 млрд ₽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30,3 млн акт.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</a:tr>
              <a:tr h="40909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1414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Газпромбанк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17,7 трлн 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133 млрд 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~5,7 млн розн.*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909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1414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Альфа-Банк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14,3 трлн ₽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230 млрд ₽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&gt;40 млн ФЛ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</a:tr>
              <a:tr h="40909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1414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ПСБ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~9,5 трлн 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−19 / +33 млрд**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909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1414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Т-Банк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5,7 трлн ₽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122 млрд ₽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~34 млн акт.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</a:tr>
              <a:tr h="40909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1414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РСХБ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5,5 трлн 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909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1414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МКБ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5,0 трлн ₽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</a:tr>
              <a:tr h="40909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1414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ДОМ.РФ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4,9 трлн 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91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1414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Совкомбанк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4,3 трлн ₽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53 млрд ₽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Arial"/>
                        </a:rPr>
                        <a:t>~8+ млн*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63637" y="6250000"/>
            <a:ext cx="98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* данные не за 2025 полностью  ·  ** ПСБ: МСФО убыток / РСБУ прибыль  ·  н/д — не найдено публично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85372" y="6408409"/>
            <a:ext cx="325375" cy="13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1414"/>
                </a:solidFill>
                <a:latin typeface="Arial"/>
              </a:rPr>
              <a:t>Лидеры: ключевые метрики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000" y="280000"/>
            <a:ext cx="1400000" cy="290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163637" y="1550000"/>
            <a:ext cx="4700000" cy="205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63637" y="1550000"/>
            <a:ext cx="80000" cy="2050000"/>
          </a:xfrm>
          <a:prstGeom prst="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3637" y="175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1414"/>
                </a:solidFill>
                <a:latin typeface="Arial"/>
              </a:rPr>
              <a:t>Сбербанк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3637" y="2200000"/>
            <a:ext cx="42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A038"/>
                </a:solidFill>
                <a:latin typeface="Arial"/>
              </a:rPr>
              <a:t>66,2 трлн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3637" y="2650000"/>
            <a:ext cx="4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</a:rPr>
              <a:t>активов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3637" y="2950000"/>
            <a:ext cx="4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1,69 трлн ₽ прибыль
110,7 млн розн. клиентов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637" y="1550000"/>
            <a:ext cx="4700000" cy="205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63637" y="1550000"/>
            <a:ext cx="80000" cy="2050000"/>
          </a:xfrm>
          <a:prstGeom prst="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3637" y="175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1414"/>
                </a:solidFill>
                <a:latin typeface="Arial"/>
              </a:rPr>
              <a:t>ВТБ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3637" y="2200000"/>
            <a:ext cx="42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A038"/>
                </a:solidFill>
                <a:latin typeface="Arial"/>
              </a:rPr>
              <a:t>36,4 трлн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637" y="2650000"/>
            <a:ext cx="4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</a:rPr>
              <a:t>активов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3637" y="2950000"/>
            <a:ext cx="4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502 млрд ₽ прибыль
30,3 млн акт. розн.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3637" y="3850000"/>
            <a:ext cx="4700000" cy="205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63637" y="3850000"/>
            <a:ext cx="80000" cy="2050000"/>
          </a:xfrm>
          <a:prstGeom prst="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3637" y="405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1414"/>
                </a:solidFill>
                <a:latin typeface="Arial"/>
              </a:rPr>
              <a:t>Газпромбанк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3637" y="4500000"/>
            <a:ext cx="42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A038"/>
                </a:solidFill>
                <a:latin typeface="Arial"/>
              </a:rPr>
              <a:t>17,7 трлн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3637" y="4950000"/>
            <a:ext cx="4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</a:rPr>
              <a:t>активов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3637" y="5250000"/>
            <a:ext cx="4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133 млрд ₽ прибыль
~5,7 млн розн.*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637" y="3850000"/>
            <a:ext cx="4700000" cy="205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637" y="3850000"/>
            <a:ext cx="80000" cy="2050000"/>
          </a:xfrm>
          <a:prstGeom prst="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3637" y="405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1414"/>
                </a:solidFill>
                <a:latin typeface="Arial"/>
              </a:rPr>
              <a:t>Альфа-Банк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3637" y="4500000"/>
            <a:ext cx="42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A038"/>
                </a:solidFill>
                <a:latin typeface="Arial"/>
              </a:rPr>
              <a:t>14,3 трлн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3637" y="4950000"/>
            <a:ext cx="4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</a:rPr>
              <a:t>активов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3637" y="5250000"/>
            <a:ext cx="4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230 млрд ₽ прибыль
&gt;40 млн ФЛ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85372" y="6408409"/>
            <a:ext cx="325375" cy="13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1414"/>
                </a:solidFill>
                <a:latin typeface="Arial"/>
              </a:rPr>
              <a:t>Категории API для проверки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000" y="280000"/>
            <a:ext cx="1400000" cy="290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163637" y="1600000"/>
            <a:ext cx="3200000" cy="2000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63637" y="1850000"/>
            <a:ext cx="900000" cy="350000"/>
          </a:xfrm>
          <a:prstGeom prst="round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63637" y="1880000"/>
            <a:ext cx="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3637" y="2350000"/>
            <a:ext cx="28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1414"/>
                </a:solidFill>
                <a:latin typeface="Arial"/>
              </a:rPr>
              <a:t>FX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3637" y="2850000"/>
            <a:ext cx="280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Конверсия / спот через API или eFX-терминал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63637" y="1600000"/>
            <a:ext cx="3200000" cy="2000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63637" y="1850000"/>
            <a:ext cx="900000" cy="350000"/>
          </a:xfrm>
          <a:prstGeom prst="round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63637" y="1880000"/>
            <a:ext cx="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3637" y="2350000"/>
            <a:ext cx="28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1414"/>
                </a:solidFill>
                <a:latin typeface="Arial"/>
              </a:rPr>
              <a:t>Brokerage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3637" y="2850000"/>
            <a:ext cx="280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Облигации, repo, торговля через Invest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637" y="1600000"/>
            <a:ext cx="3200000" cy="2000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63637" y="1850000"/>
            <a:ext cx="900000" cy="350000"/>
          </a:xfrm>
          <a:prstGeom prst="round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3637" y="1880000"/>
            <a:ext cx="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3637" y="2350000"/>
            <a:ext cx="28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1414"/>
                </a:solidFill>
                <a:latin typeface="Arial"/>
              </a:rPr>
              <a:t>Депозиты / swap / fwd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3637" y="2850000"/>
            <a:ext cx="280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Депозиты, НСО, FX swap, forward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63637" y="3900000"/>
            <a:ext cx="3200000" cy="2000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363637" y="4150000"/>
            <a:ext cx="900000" cy="350000"/>
          </a:xfrm>
          <a:prstGeom prst="round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63637" y="4180000"/>
            <a:ext cx="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3637" y="4650000"/>
            <a:ext cx="28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1414"/>
                </a:solidFill>
                <a:latin typeface="Arial"/>
              </a:rPr>
              <a:t>Credits + rates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3637" y="5150000"/>
            <a:ext cx="280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Кредиты, ставки; cap/floor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63637" y="3900000"/>
            <a:ext cx="3200000" cy="2000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63637" y="4150000"/>
            <a:ext cx="900000" cy="350000"/>
          </a:xfrm>
          <a:prstGeom prst="round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63637" y="4180000"/>
            <a:ext cx="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63637" y="4650000"/>
            <a:ext cx="28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1414"/>
                </a:solidFill>
                <a:latin typeface="Arial"/>
              </a:rPr>
              <a:t>Transactions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3637" y="5150000"/>
            <a:ext cx="280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Платежи, выписки, H2H / Open 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3637" y="3900000"/>
            <a:ext cx="3200000" cy="2000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63637" y="4150000"/>
            <a:ext cx="900000" cy="350000"/>
          </a:xfrm>
          <a:prstGeom prst="round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3637" y="4180000"/>
            <a:ext cx="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3637" y="4650000"/>
            <a:ext cx="28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1414"/>
                </a:solidFill>
                <a:latin typeface="Arial"/>
              </a:rPr>
              <a:t>Прочее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3637" y="5150000"/>
            <a:ext cx="280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СБП, карты, Open Banking, market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85372" y="6408409"/>
            <a:ext cx="325375" cy="13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1414"/>
                </a:solidFill>
                <a:latin typeface="Arial"/>
              </a:rPr>
              <a:t>Матрица: банк × категория API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000" y="280000"/>
            <a:ext cx="1400000" cy="29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63637" y="1200000"/>
            <a:ext cx="98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✅ есть   ◐ частично   ❌ не найдено публично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63637" y="1550000"/>
          <a:ext cx="9800000" cy="4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600000"/>
                <a:gridCol w="1600000"/>
                <a:gridCol w="1800000"/>
                <a:gridCol w="1600000"/>
                <a:gridCol w="1400000"/>
              </a:tblGrid>
              <a:tr h="418181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Банк</a:t>
                      </a:r>
                    </a:p>
                  </a:txBody>
                  <a:tcPr anchor="ctr">
                    <a:solidFill>
                      <a:srgbClr val="21A0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FX</a:t>
                      </a:r>
                    </a:p>
                  </a:txBody>
                  <a:tcPr anchor="ctr">
                    <a:solidFill>
                      <a:srgbClr val="21A0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Broker</a:t>
                      </a:r>
                    </a:p>
                  </a:txBody>
                  <a:tcPr anchor="ctr">
                    <a:solidFill>
                      <a:srgbClr val="21A0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Dep/Swap</a:t>
                      </a:r>
                    </a:p>
                  </a:txBody>
                  <a:tcPr anchor="ctr">
                    <a:solidFill>
                      <a:srgbClr val="21A0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Credits</a:t>
                      </a:r>
                    </a:p>
                  </a:txBody>
                  <a:tcPr anchor="ctr">
                    <a:solidFill>
                      <a:srgbClr val="21A0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Txn</a:t>
                      </a:r>
                    </a:p>
                  </a:txBody>
                  <a:tcPr anchor="ctr">
                    <a:solidFill>
                      <a:srgbClr val="21A038"/>
                    </a:solidFill>
                  </a:tcPr>
                </a:tc>
              </a:tr>
              <a:tr h="4181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414"/>
                          </a:solidFill>
                          <a:latin typeface="Arial"/>
                        </a:rPr>
                        <a:t>Сбер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1A038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414"/>
                          </a:solidFill>
                          <a:latin typeface="Arial"/>
                        </a:rPr>
                        <a:t>ВТБ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1A038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</a:tr>
              <a:tr h="4181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414"/>
                          </a:solidFill>
                          <a:latin typeface="Arial"/>
                        </a:rPr>
                        <a:t>ГПБ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1A038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414"/>
                          </a:solidFill>
                          <a:latin typeface="Arial"/>
                        </a:rPr>
                        <a:t>Альфа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1A038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1A038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</a:tr>
              <a:tr h="4181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414"/>
                          </a:solidFill>
                          <a:latin typeface="Arial"/>
                        </a:rPr>
                        <a:t>ПСБ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1A038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414"/>
                          </a:solidFill>
                          <a:latin typeface="Arial"/>
                        </a:rPr>
                        <a:t>Т-Банк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1A038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1A038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</a:tr>
              <a:tr h="4181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414"/>
                          </a:solidFill>
                          <a:latin typeface="Arial"/>
                        </a:rPr>
                        <a:t>РСХБ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414"/>
                          </a:solidFill>
                          <a:latin typeface="Arial"/>
                        </a:rPr>
                        <a:t>МКБ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</a:tr>
              <a:tr h="4181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414"/>
                          </a:solidFill>
                          <a:latin typeface="Arial"/>
                        </a:rPr>
                        <a:t>ДОМ.РФ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9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414"/>
                          </a:solidFill>
                          <a:latin typeface="Arial"/>
                        </a:rPr>
                        <a:t>Совком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6A817"/>
                          </a:solidFill>
                          <a:latin typeface="Arial"/>
                        </a:rPr>
                        <a:t>◐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0B0B0"/>
                          </a:solidFill>
                          <a:latin typeface="Arial"/>
                        </a:rPr>
                        <a:t>❌</a:t>
                      </a:r>
                    </a:p>
                  </a:txBody>
                  <a:tcPr anchor="ctr">
                    <a:solidFill>
                      <a:srgbClr val="F0F7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85372" y="6408409"/>
            <a:ext cx="325375" cy="13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1414"/>
                </a:solidFill>
                <a:latin typeface="Arial"/>
              </a:rPr>
              <a:t>Лидеры по публичному API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000" y="280000"/>
            <a:ext cx="1400000" cy="290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163637" y="1450000"/>
            <a:ext cx="4700000" cy="22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3637" y="165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A038"/>
                </a:solidFill>
                <a:latin typeface="Arial"/>
              </a:rPr>
              <a:t>Т-Банк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3637" y="200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1414"/>
                </a:solidFill>
                <a:latin typeface="Arial"/>
              </a:rPr>
              <a:t>Самый полный публичный каталог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3637" y="24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• T-API Business: платежи, депозиты, счета
• T-Invest: bonds, FX instruments, sandbox
• Partner-кредиты, эквайринг, ВЭД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3637" y="1450000"/>
            <a:ext cx="4700000" cy="22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3637" y="165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A038"/>
                </a:solidFill>
                <a:latin typeface="Arial"/>
              </a:rPr>
              <a:t>Сбербанк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637" y="200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1414"/>
                </a:solidFill>
                <a:latin typeface="Arial"/>
              </a:rPr>
              <a:t>Корп. Open API + CIB 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3637" y="24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• Sber API: платежи, депозиты, FX conv
• SberCIB: SPOT/SWAP/FWD (API заявлено)
• Sandbox, ВЭД, СБП, карты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63637" y="3850000"/>
            <a:ext cx="4700000" cy="22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3637" y="405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A038"/>
                </a:solidFill>
                <a:latin typeface="Arial"/>
              </a:rPr>
              <a:t>Альфа-Банк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3637" y="440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1414"/>
                </a:solidFill>
                <a:latin typeface="Arial"/>
              </a:rPr>
              <a:t>Alfa API + H2H + брокер 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3637" y="4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• Выписки, платежи, кредиты, sandbox
• Альфа-Линк H2H (ISO 20022)
• Альфа-Инвестиции PRO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637" y="3850000"/>
            <a:ext cx="4700000" cy="22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3637" y="405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A038"/>
                </a:solidFill>
                <a:latin typeface="Arial"/>
              </a:rPr>
              <a:t>ВТБ / ГПБ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3637" y="440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1414"/>
                </a:solidFill>
                <a:latin typeface="Arial"/>
              </a:rPr>
              <a:t>H2H и казначейские терминалы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3637" y="4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• ВТБ: ИБК + eFX (терминал/STP)
• ГПБ: H2H ISO 20022 + API курсов
• Публичных Invest API нет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85372" y="6408409"/>
            <a:ext cx="325375" cy="13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1414"/>
                </a:solidFill>
                <a:latin typeface="Arial"/>
              </a:rPr>
              <a:t>Пробелы рынка API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000" y="280000"/>
            <a:ext cx="1400000" cy="290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163637" y="1500000"/>
            <a:ext cx="2200000" cy="900000"/>
          </a:xfrm>
          <a:prstGeom prst="round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13637" y="1780000"/>
            <a:ext cx="1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Treasury FX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50000" y="1500000"/>
            <a:ext cx="7400000" cy="9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50000" y="1700000"/>
            <a:ext cx="7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Полный self-serve Open API по SPOT/SWAP/FWD почти ни у кого. Обычно терминал + договор (Сбер CIB, ВТБ eFX).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63637" y="2650000"/>
            <a:ext cx="2200000" cy="900000"/>
          </a:xfrm>
          <a:prstGeom prst="round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13637" y="2930000"/>
            <a:ext cx="1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Brokerage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0000" y="2650000"/>
            <a:ext cx="7400000" cy="9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0000" y="2850000"/>
            <a:ext cx="7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Публично подтверждены только Т-Invest и Альфа PRO. У Сбера/ВТБ Invest API не найдено.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63637" y="3800000"/>
            <a:ext cx="2200000" cy="900000"/>
          </a:xfrm>
          <a:prstGeom prst="round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3637" y="4080000"/>
            <a:ext cx="1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Cap / Floor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0000" y="3800000"/>
            <a:ext cx="7400000" cy="9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50000" y="4000000"/>
            <a:ext cx="7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API ставок с cap/floor — не найдено публично ни у одного банка в выборке.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3637" y="4950000"/>
            <a:ext cx="2200000" cy="900000"/>
          </a:xfrm>
          <a:prstGeom prst="round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3637" y="5230000"/>
            <a:ext cx="1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Open Banking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50000" y="4950000"/>
            <a:ext cx="7400000" cy="9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50000" y="5150000"/>
            <a:ext cx="7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Пилоты АФТ/ЦБ (ПСБ, МКБ, ДОМ.РФ). Рекомендательный характер, не полноценный portal.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85372" y="6408409"/>
            <a:ext cx="325375" cy="13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1414"/>
                </a:solidFill>
                <a:latin typeface="Arial"/>
              </a:rPr>
              <a:t>Выводы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000" y="280000"/>
            <a:ext cx="1400000" cy="2900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163637" y="1550000"/>
            <a:ext cx="400000" cy="400000"/>
          </a:xfrm>
          <a:prstGeom prst="ellipse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3637" y="1620000"/>
            <a:ext cx="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0000" y="1500000"/>
            <a:ext cx="90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1414"/>
                </a:solidFill>
                <a:latin typeface="Arial"/>
              </a:rPr>
              <a:t>Топ по размеру стабилен: Сбер → ВТБ → ГПБ → Альфа; далее ПСБ / Т-Банк / РСХБ.</a:t>
            </a:r>
          </a:p>
        </p:txBody>
      </p:sp>
      <p:sp>
        <p:nvSpPr>
          <p:cNvPr id="7" name="Oval 6"/>
          <p:cNvSpPr/>
          <p:nvPr/>
        </p:nvSpPr>
        <p:spPr>
          <a:xfrm>
            <a:off x="1163637" y="2450000"/>
            <a:ext cx="400000" cy="400000"/>
          </a:xfrm>
          <a:prstGeom prst="ellipse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3637" y="2520000"/>
            <a:ext cx="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0000" y="2400000"/>
            <a:ext cx="90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1414"/>
                </a:solidFill>
                <a:latin typeface="Arial"/>
              </a:rPr>
              <a:t>Зрелые публичные API: Т-Банк (Business + Invest) и Сбер (Sber API + CIB); сильный корп. контур у Альфы.</a:t>
            </a:r>
          </a:p>
        </p:txBody>
      </p:sp>
      <p:sp>
        <p:nvSpPr>
          <p:cNvPr id="10" name="Oval 9"/>
          <p:cNvSpPr/>
          <p:nvPr/>
        </p:nvSpPr>
        <p:spPr>
          <a:xfrm>
            <a:off x="1163637" y="3350000"/>
            <a:ext cx="400000" cy="400000"/>
          </a:xfrm>
          <a:prstGeom prst="ellipse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3637" y="3420000"/>
            <a:ext cx="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0000" y="3300000"/>
            <a:ext cx="90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1414"/>
                </a:solidFill>
                <a:latin typeface="Arial"/>
              </a:rPr>
              <a:t>Казначейские продукты (FX swap/forward, repo, cap/floor) почти не отданы в публичный self-serve API.</a:t>
            </a:r>
          </a:p>
        </p:txBody>
      </p:sp>
      <p:sp>
        <p:nvSpPr>
          <p:cNvPr id="13" name="Oval 12"/>
          <p:cNvSpPr/>
          <p:nvPr/>
        </p:nvSpPr>
        <p:spPr>
          <a:xfrm>
            <a:off x="1163637" y="4250000"/>
            <a:ext cx="400000" cy="400000"/>
          </a:xfrm>
          <a:prstGeom prst="ellipse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3637" y="4320000"/>
            <a:ext cx="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0000" y="4200000"/>
            <a:ext cx="90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1414"/>
                </a:solidFill>
                <a:latin typeface="Arial"/>
              </a:rPr>
              <a:t>«Не найдено публично» ≠ отсутствие закрытых H2H/казначейских интеграций.</a:t>
            </a:r>
          </a:p>
        </p:txBody>
      </p:sp>
      <p:sp>
        <p:nvSpPr>
          <p:cNvPr id="16" name="Oval 15"/>
          <p:cNvSpPr/>
          <p:nvPr/>
        </p:nvSpPr>
        <p:spPr>
          <a:xfrm>
            <a:off x="1163637" y="5150000"/>
            <a:ext cx="400000" cy="400000"/>
          </a:xfrm>
          <a:prstGeom prst="ellipse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3637" y="5220000"/>
            <a:ext cx="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0000" y="5100000"/>
            <a:ext cx="90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1414"/>
                </a:solidFill>
                <a:latin typeface="Arial"/>
              </a:rPr>
              <a:t>Для интеграции ориентир: Open API порталы (Сбер/Альфа/Т) или H2H-договор с банком.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85372" y="6408409"/>
            <a:ext cx="325375" cy="13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1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000" y="280000"/>
            <a:ext cx="1400000" cy="29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63637" y="2200000"/>
            <a:ext cx="9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Спасибо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3637" y="3200000"/>
            <a:ext cx="9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Полный отчёт: docs/russian-banks-api-research.md
GitHub: github.com/korowood/russian-banks-api-research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3637" y="5200000"/>
            <a:ext cx="9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Октябрь 2026 · только публичные источники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1_Тема Office">
      <a:dk1>
        <a:srgbClr val="516170"/>
      </a:dk1>
      <a:lt1>
        <a:srgbClr val="70461F"/>
      </a:lt1>
      <a:dk2>
        <a:srgbClr val="A7A7A7"/>
      </a:dk2>
      <a:lt2>
        <a:srgbClr val="535353"/>
      </a:lt2>
      <a:accent1>
        <a:srgbClr val="00766C"/>
      </a:accent1>
      <a:accent2>
        <a:srgbClr val="20B598"/>
      </a:accent2>
      <a:accent3>
        <a:srgbClr val="107F8C"/>
      </a:accent3>
      <a:accent4>
        <a:srgbClr val="853A90"/>
      </a:accent4>
      <a:accent5>
        <a:srgbClr val="6163BB"/>
      </a:accent5>
      <a:accent6>
        <a:srgbClr val="386FAB"/>
      </a:accent6>
      <a:hlink>
        <a:srgbClr val="0000FF"/>
      </a:hlink>
      <a:folHlink>
        <a:srgbClr val="FF00FF"/>
      </a:folHlink>
    </a:clrScheme>
    <a:fontScheme name="1_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1_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51617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_Тема Office">
  <a:themeElements>
    <a:clrScheme name="1_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66C"/>
      </a:accent1>
      <a:accent2>
        <a:srgbClr val="20B598"/>
      </a:accent2>
      <a:accent3>
        <a:srgbClr val="107F8C"/>
      </a:accent3>
      <a:accent4>
        <a:srgbClr val="853A90"/>
      </a:accent4>
      <a:accent5>
        <a:srgbClr val="6163BB"/>
      </a:accent5>
      <a:accent6>
        <a:srgbClr val="386FAB"/>
      </a:accent6>
      <a:hlink>
        <a:srgbClr val="0000FF"/>
      </a:hlink>
      <a:folHlink>
        <a:srgbClr val="FF00FF"/>
      </a:folHlink>
    </a:clrScheme>
    <a:fontScheme name="1_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1_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70461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51617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51617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70918</TotalTime>
  <Words>1196</Words>
  <Application>Microsoft Macintosh PowerPoint</Application>
  <PresentationFormat>Широкоэкранный</PresentationFormat>
  <Paragraphs>397</Paragraphs>
  <Slides>28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28</vt:i4>
      </vt:variant>
    </vt:vector>
  </HeadingPairs>
  <TitlesOfParts>
    <vt:vector size="38" baseType="lpstr">
      <vt:lpstr>Arial</vt:lpstr>
      <vt:lpstr>Calibri</vt:lpstr>
      <vt:lpstr>Helvetica</vt:lpstr>
      <vt:lpstr>SB Sans Display</vt:lpstr>
      <vt:lpstr>SB Sans Display Light</vt:lpstr>
      <vt:lpstr>SB Sans Display Semibold</vt:lpstr>
      <vt:lpstr>SB Sans Text</vt:lpstr>
      <vt:lpstr>SB Sans Text Light</vt:lpstr>
      <vt:lpstr>SB Sans Text Semibold</vt:lpstr>
      <vt:lpstr>1_Тема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Круговая диаграмма</vt:lpstr>
      <vt:lpstr>Презентация PowerPoint</vt:lpstr>
      <vt:lpstr>Круговая диаграмма</vt:lpstr>
      <vt:lpstr>Презентация PowerPoint</vt:lpstr>
      <vt:lpstr>И ещё один вид графиков</vt:lpstr>
      <vt:lpstr>Плюс ещё один вид</vt:lpstr>
      <vt:lpstr>Инфографика</vt:lpstr>
      <vt:lpstr>Инфографика</vt:lpstr>
      <vt:lpstr>Циклы</vt:lpstr>
      <vt:lpstr>Циклы</vt:lpstr>
      <vt:lpstr>Акценты конференции</vt:lpstr>
      <vt:lpstr>Имиджевые пиктограммы</vt:lpstr>
      <vt:lpstr>Имиджевые пиктограммы</vt:lpstr>
      <vt:lpstr>Фигуры / элементы целого</vt:lpstr>
      <vt:lpstr>Фигуры / элементы целого</vt:lpstr>
      <vt:lpstr>Таблица</vt:lpstr>
      <vt:lpstr>Финансовые продукты  (поддержка текущего бизнеса)</vt:lpstr>
      <vt:lpstr>Исследования</vt:lpstr>
      <vt:lpstr>Элементы схем</vt:lpstr>
      <vt:lpstr>Оформление диаграмм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Microsoft Office User</cp:lastModifiedBy>
  <cp:revision>256</cp:revision>
  <dcterms:modified xsi:type="dcterms:W3CDTF">2026-10-08T15:55:20Z</dcterms:modified>
</cp:coreProperties>
</file>